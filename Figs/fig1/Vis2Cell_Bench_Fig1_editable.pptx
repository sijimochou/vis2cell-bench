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6459200" cy="11521440"/>
  <p:notesSz cx="11521440" cy="1645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he_thumbnail_1.jpg"/><Relationship Id="rId4" Type="http://schemas.openxmlformats.org/officeDocument/2006/relationships/image" Target="../media/he_thumbnail_2.jpg"/><Relationship Id="rId5" Type="http://schemas.openxmlformats.org/officeDocument/2006/relationships/image" Target="../media/he_thumbnail_3.jpg"/><Relationship Id="rId6" Type="http://schemas.openxmlformats.org/officeDocument/2006/relationships/image" Target="../media/he_thumbnail_4.jpg"/><Relationship Id="rId7" Type="http://schemas.openxmlformats.org/officeDocument/2006/relationships/image" Target="../media/he_thumbnail_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 panel frame #1"/>
          <p:cNvSpPr/>
          <p:nvPr/>
        </p:nvSpPr>
        <p:spPr>
          <a:xfrm>
            <a:off x="182880" y="201168"/>
            <a:ext cx="3200400" cy="98115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cxnSp>
        <p:nvCxnSpPr>
          <p:cNvPr id="3" name="a header rule #2"/>
          <p:cNvCxnSpPr/>
          <p:nvPr/>
        </p:nvCxnSpPr>
        <p:spPr>
          <a:xfrm>
            <a:off x="329184" y="1188720"/>
            <a:ext cx="2907792" cy="0"/>
          </a:xfrm>
          <a:prstGeom prst="line">
            <a:avLst/>
          </a:prstGeom>
          <a:noFill/>
          <a:ln w="22860">
            <a:solidFill>
              <a:srgbClr val="DBC8ED"/>
            </a:solidFill>
            <a:prstDash val="solid"/>
            <a:headEnd type="none"/>
            <a:tailEnd type="none"/>
          </a:ln>
        </p:spPr>
      </p:cxnSp>
      <p:sp>
        <p:nvSpPr>
          <p:cNvPr id="4" name="b panel frame #3"/>
          <p:cNvSpPr/>
          <p:nvPr/>
        </p:nvSpPr>
        <p:spPr>
          <a:xfrm>
            <a:off x="3566160" y="201168"/>
            <a:ext cx="4663440" cy="9811512"/>
          </a:xfrm>
          <a:prstGeom prst="rect">
            <a:avLst/>
          </a:prstGeom>
          <a:solidFill>
            <a:srgbClr val="FFFFFF"/>
          </a:solidFill>
          <a:ln w="20320">
            <a:solidFill>
              <a:srgbClr val="776B97"/>
            </a:solidFill>
            <a:prstDash val="solid"/>
          </a:ln>
        </p:spPr>
      </p:sp>
      <p:cxnSp>
        <p:nvCxnSpPr>
          <p:cNvPr id="5" name="b header rule #4"/>
          <p:cNvCxnSpPr/>
          <p:nvPr/>
        </p:nvCxnSpPr>
        <p:spPr>
          <a:xfrm>
            <a:off x="3712464" y="1188720"/>
            <a:ext cx="4370832" cy="0"/>
          </a:xfrm>
          <a:prstGeom prst="line">
            <a:avLst/>
          </a:prstGeom>
          <a:noFill/>
          <a:ln w="22860">
            <a:solidFill>
              <a:srgbClr val="DBC8ED"/>
            </a:solidFill>
            <a:prstDash val="solid"/>
            <a:headEnd type="none"/>
            <a:tailEnd type="none"/>
          </a:ln>
        </p:spPr>
      </p:cxnSp>
      <p:sp>
        <p:nvSpPr>
          <p:cNvPr id="6" name="c panel frame #5"/>
          <p:cNvSpPr/>
          <p:nvPr/>
        </p:nvSpPr>
        <p:spPr>
          <a:xfrm>
            <a:off x="8412480" y="201168"/>
            <a:ext cx="3017520" cy="98115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cxnSp>
        <p:nvCxnSpPr>
          <p:cNvPr id="7" name="c header rule #6"/>
          <p:cNvCxnSpPr/>
          <p:nvPr/>
        </p:nvCxnSpPr>
        <p:spPr>
          <a:xfrm>
            <a:off x="8558784" y="1188720"/>
            <a:ext cx="2724912" cy="0"/>
          </a:xfrm>
          <a:prstGeom prst="line">
            <a:avLst/>
          </a:prstGeom>
          <a:noFill/>
          <a:ln w="22860">
            <a:solidFill>
              <a:srgbClr val="DBC8ED"/>
            </a:solidFill>
            <a:prstDash val="solid"/>
            <a:headEnd type="none"/>
            <a:tailEnd type="none"/>
          </a:ln>
        </p:spPr>
      </p:cxnSp>
      <p:sp>
        <p:nvSpPr>
          <p:cNvPr id="8" name="d panel frame #7"/>
          <p:cNvSpPr/>
          <p:nvPr/>
        </p:nvSpPr>
        <p:spPr>
          <a:xfrm>
            <a:off x="11612880" y="201168"/>
            <a:ext cx="4663440" cy="9811512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</p:spPr>
      </p:sp>
      <p:cxnSp>
        <p:nvCxnSpPr>
          <p:cNvPr id="9" name="d header rule #8"/>
          <p:cNvCxnSpPr/>
          <p:nvPr/>
        </p:nvCxnSpPr>
        <p:spPr>
          <a:xfrm>
            <a:off x="11759184" y="1188720"/>
            <a:ext cx="4370832" cy="0"/>
          </a:xfrm>
          <a:prstGeom prst="line">
            <a:avLst/>
          </a:prstGeom>
          <a:noFill/>
          <a:ln w="22860">
            <a:solidFill>
              <a:srgbClr val="DBC8ED"/>
            </a:solidFill>
            <a:prstDash val="solid"/>
            <a:headEnd type="none"/>
            <a:tailEnd type="none"/>
          </a:ln>
        </p:spPr>
      </p:cxnSp>
      <p:pic>
        <p:nvPicPr>
          <p:cNvPr id="10" name="a real H&amp;E cohort thumbnail 1: Bowel_Colon_Cancer_TENX148_he.png" descr="a real H&amp;E cohort thumbnail 1: Bowel_Colon_Cancer_TENX148_he.png"/>
          <p:cNvPicPr>
            <a:picLocks noChangeAspect="1"/>
          </p:cNvPicPr>
          <p:nvPr/>
        </p:nvPicPr>
        <p:blipFill>
          <a:blip r:embed="rId3"/>
          <a:srcRect l="0" t="11599" r="0" b="11599"/>
          <a:stretch>
            <a:fillRect/>
          </a:stretch>
        </p:blipFill>
        <p:spPr>
          <a:xfrm>
            <a:off x="420624" y="2084832"/>
            <a:ext cx="2084832" cy="103327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pic>
        <p:nvPicPr>
          <p:cNvPr id="12" name="a real H&amp;E cohort thumbnail 2: Breast_Cancer_NCBI784_he.png" descr="a real H&amp;E cohort thumbnail 2: Breast_Cancer_NCBI784_he.png"/>
          <p:cNvPicPr>
            <a:picLocks noChangeAspect="1"/>
          </p:cNvPicPr>
          <p:nvPr/>
        </p:nvPicPr>
        <p:blipFill>
          <a:blip r:embed="rId4"/>
          <a:srcRect l="0" t="11599" r="0" b="11599"/>
          <a:stretch>
            <a:fillRect/>
          </a:stretch>
        </p:blipFill>
        <p:spPr>
          <a:xfrm>
            <a:off x="566928" y="2249424"/>
            <a:ext cx="2084832" cy="103327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pic>
        <p:nvPicPr>
          <p:cNvPr id="14" name="a real H&amp;E cohort thumbnail 3: Lung_Healthy_NCBI875_he.png" descr="a real H&amp;E cohort thumbnail 3: Lung_Healthy_NCBI875_he.png"/>
          <p:cNvPicPr>
            <a:picLocks noChangeAspect="1"/>
          </p:cNvPicPr>
          <p:nvPr/>
        </p:nvPicPr>
        <p:blipFill>
          <a:blip r:embed="rId5"/>
          <a:srcRect l="0" t="16039" r="0" b="16039"/>
          <a:stretch>
            <a:fillRect/>
          </a:stretch>
        </p:blipFill>
        <p:spPr>
          <a:xfrm>
            <a:off x="713232" y="2414016"/>
            <a:ext cx="2084832" cy="103327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pic>
        <p:nvPicPr>
          <p:cNvPr id="16" name="a real H&amp;E cohort thumbnail 4: Lymphoid_Diseased_TENX124_he.png" descr="a real H&amp;E cohort thumbnail 4: Lymphoid_Diseased_TENX124_he.png"/>
          <p:cNvPicPr>
            <a:picLocks noChangeAspect="1"/>
          </p:cNvPicPr>
          <p:nvPr/>
        </p:nvPicPr>
        <p:blipFill>
          <a:blip r:embed="rId6"/>
          <a:srcRect l="0" t="15447" r="0" b="15447"/>
          <a:stretch>
            <a:fillRect/>
          </a:stretch>
        </p:blipFill>
        <p:spPr>
          <a:xfrm>
            <a:off x="859536" y="2578608"/>
            <a:ext cx="2084832" cy="103327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pic>
        <p:nvPicPr>
          <p:cNvPr id="18" name="a real H&amp;E cohort thumbnail 5: Ovary_Cancer_TENX160_he.png" descr="a real H&amp;E cohort thumbnail 5: Ovary_Cancer_TENX160_he.png"/>
          <p:cNvPicPr>
            <a:picLocks noChangeAspect="1"/>
          </p:cNvPicPr>
          <p:nvPr/>
        </p:nvPicPr>
        <p:blipFill>
          <a:blip r:embed="rId7"/>
          <a:srcRect l="0" t="2516" r="0" b="2516"/>
          <a:stretch>
            <a:fillRect/>
          </a:stretch>
        </p:blipFill>
        <p:spPr>
          <a:xfrm>
            <a:off x="1005840" y="2743200"/>
            <a:ext cx="2084832" cy="103327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pic>
        <p:nvPicPr>
          <p:cNvPr id="19" name="a real H&amp;E input: Breast_Cancer_NCBI784_he.png" descr="a real H&amp;E input: Breast_Cancer_NCBI784_he.png"/>
          <p:cNvPicPr>
            <a:picLocks noChangeAspect="1"/>
          </p:cNvPicPr>
          <p:nvPr/>
        </p:nvPicPr>
        <p:blipFill>
          <a:blip r:embed="rId4"/>
          <a:srcRect l="0" t="24940" r="0" b="24940"/>
          <a:stretch>
            <a:fillRect/>
          </a:stretch>
        </p:blipFill>
        <p:spPr>
          <a:xfrm>
            <a:off x="393192" y="4434840"/>
            <a:ext cx="2770632" cy="896112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  <p:sp>
        <p:nvSpPr>
          <p:cNvPr id="20" name="a coordinate frame #19"/>
          <p:cNvSpPr/>
          <p:nvPr/>
        </p:nvSpPr>
        <p:spPr>
          <a:xfrm>
            <a:off x="393192" y="6025896"/>
            <a:ext cx="2770632" cy="813816"/>
          </a:xfrm>
          <a:prstGeom prst="rect">
            <a:avLst/>
          </a:prstGeom>
          <a:solidFill>
            <a:srgbClr val="FFFFFF"/>
          </a:solidFill>
          <a:ln w="8890">
            <a:solidFill>
              <a:srgbClr val="E7E7EB"/>
            </a:solidFill>
            <a:prstDash val="solid"/>
          </a:ln>
        </p:spPr>
      </p:sp>
      <p:sp>
        <p:nvSpPr>
          <p:cNvPr id="21" name="a measured cell positions 0:0 #20"/>
          <p:cNvSpPr/>
          <p:nvPr/>
        </p:nvSpPr>
        <p:spPr>
          <a:xfrm>
            <a:off x="582676" y="6131600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2" name="a measured cell positions 0:1 #21"/>
          <p:cNvSpPr/>
          <p:nvPr/>
        </p:nvSpPr>
        <p:spPr>
          <a:xfrm>
            <a:off x="804426" y="6185117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3" name="a measured cell positions 0:2 #22"/>
          <p:cNvSpPr/>
          <p:nvPr/>
        </p:nvSpPr>
        <p:spPr>
          <a:xfrm>
            <a:off x="997277" y="6182534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4" name="a measured cell positions 0:3 #23"/>
          <p:cNvSpPr/>
          <p:nvPr/>
        </p:nvSpPr>
        <p:spPr>
          <a:xfrm>
            <a:off x="1163479" y="6129951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5" name="a measured cell positions 0:4 #24"/>
          <p:cNvSpPr/>
          <p:nvPr/>
        </p:nvSpPr>
        <p:spPr>
          <a:xfrm>
            <a:off x="1390138" y="6181105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6" name="a measured cell positions 0:5 #25"/>
          <p:cNvSpPr/>
          <p:nvPr/>
        </p:nvSpPr>
        <p:spPr>
          <a:xfrm>
            <a:off x="1547880" y="6164410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7" name="a measured cell positions 0:6 #26"/>
          <p:cNvSpPr/>
          <p:nvPr/>
        </p:nvSpPr>
        <p:spPr>
          <a:xfrm>
            <a:off x="1734181" y="6147794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8" name="a measured cell positions 0:7 #27"/>
          <p:cNvSpPr/>
          <p:nvPr/>
        </p:nvSpPr>
        <p:spPr>
          <a:xfrm>
            <a:off x="1992548" y="6143997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29" name="a measured cell positions 0:8 #28"/>
          <p:cNvSpPr/>
          <p:nvPr/>
        </p:nvSpPr>
        <p:spPr>
          <a:xfrm>
            <a:off x="2180021" y="6142063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0" name="a measured cell positions 0:9 #29"/>
          <p:cNvSpPr/>
          <p:nvPr/>
        </p:nvSpPr>
        <p:spPr>
          <a:xfrm>
            <a:off x="2328896" y="6144324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1" name="a measured cell positions 0:10 #30"/>
          <p:cNvSpPr/>
          <p:nvPr/>
        </p:nvSpPr>
        <p:spPr>
          <a:xfrm>
            <a:off x="2555367" y="6149493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2" name="a measured cell positions 0:11 #31"/>
          <p:cNvSpPr/>
          <p:nvPr/>
        </p:nvSpPr>
        <p:spPr>
          <a:xfrm>
            <a:off x="2734327" y="6146526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3" name="a measured cell positions 0:12 #32"/>
          <p:cNvSpPr/>
          <p:nvPr/>
        </p:nvSpPr>
        <p:spPr>
          <a:xfrm>
            <a:off x="2908953" y="6141805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4" name="a measured cell positions 1:0 #33"/>
          <p:cNvSpPr/>
          <p:nvPr/>
        </p:nvSpPr>
        <p:spPr>
          <a:xfrm>
            <a:off x="564848" y="6334301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5" name="a measured cell positions 1:1 #34"/>
          <p:cNvSpPr/>
          <p:nvPr/>
        </p:nvSpPr>
        <p:spPr>
          <a:xfrm>
            <a:off x="824002" y="6335489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6" name="a measured cell positions 1:2 #35"/>
          <p:cNvSpPr/>
          <p:nvPr/>
        </p:nvSpPr>
        <p:spPr>
          <a:xfrm>
            <a:off x="957936" y="6324767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7" name="a measured cell positions 1:3 #36"/>
          <p:cNvSpPr/>
          <p:nvPr/>
        </p:nvSpPr>
        <p:spPr>
          <a:xfrm>
            <a:off x="1155662" y="6341550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" name="a measured cell positions 1:4 #37"/>
          <p:cNvSpPr/>
          <p:nvPr/>
        </p:nvSpPr>
        <p:spPr>
          <a:xfrm>
            <a:off x="1359398" y="6313286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" name="a measured cell positions 1:5 #38"/>
          <p:cNvSpPr/>
          <p:nvPr/>
        </p:nvSpPr>
        <p:spPr>
          <a:xfrm>
            <a:off x="1559742" y="6293519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" name="a measured cell positions 1:6 #39"/>
          <p:cNvSpPr/>
          <p:nvPr/>
        </p:nvSpPr>
        <p:spPr>
          <a:xfrm>
            <a:off x="1796586" y="6314731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" name="a measured cell positions 1:7 #40"/>
          <p:cNvSpPr/>
          <p:nvPr/>
        </p:nvSpPr>
        <p:spPr>
          <a:xfrm>
            <a:off x="1961240" y="6309025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" name="a measured cell positions 1:8 #41"/>
          <p:cNvSpPr/>
          <p:nvPr/>
        </p:nvSpPr>
        <p:spPr>
          <a:xfrm>
            <a:off x="2176913" y="6316769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" name="a measured cell positions 1:9 #42"/>
          <p:cNvSpPr/>
          <p:nvPr/>
        </p:nvSpPr>
        <p:spPr>
          <a:xfrm>
            <a:off x="2318786" y="6351603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" name="a measured cell positions 1:10 #43"/>
          <p:cNvSpPr/>
          <p:nvPr/>
        </p:nvSpPr>
        <p:spPr>
          <a:xfrm>
            <a:off x="2530349" y="6325706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" name="a measured cell positions 1:11 #44"/>
          <p:cNvSpPr/>
          <p:nvPr/>
        </p:nvSpPr>
        <p:spPr>
          <a:xfrm>
            <a:off x="2771002" y="6304470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6" name="a measured cell positions 1:12 #45"/>
          <p:cNvSpPr/>
          <p:nvPr/>
        </p:nvSpPr>
        <p:spPr>
          <a:xfrm>
            <a:off x="2901154" y="6322388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" name="a measured cell positions 2:0 #46"/>
          <p:cNvSpPr/>
          <p:nvPr/>
        </p:nvSpPr>
        <p:spPr>
          <a:xfrm>
            <a:off x="618463" y="6479517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8" name="a measured cell positions 2:1 #47"/>
          <p:cNvSpPr/>
          <p:nvPr/>
        </p:nvSpPr>
        <p:spPr>
          <a:xfrm>
            <a:off x="770463" y="6491280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9" name="a measured cell positions 2:2 #48"/>
          <p:cNvSpPr/>
          <p:nvPr/>
        </p:nvSpPr>
        <p:spPr>
          <a:xfrm>
            <a:off x="989058" y="6496894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0" name="a measured cell positions 2:3 #49"/>
          <p:cNvSpPr/>
          <p:nvPr/>
        </p:nvSpPr>
        <p:spPr>
          <a:xfrm>
            <a:off x="1161217" y="6489323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1" name="a measured cell positions 2:4 #50"/>
          <p:cNvSpPr/>
          <p:nvPr/>
        </p:nvSpPr>
        <p:spPr>
          <a:xfrm>
            <a:off x="1383128" y="6511128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2" name="a measured cell positions 2:5 #51"/>
          <p:cNvSpPr/>
          <p:nvPr/>
        </p:nvSpPr>
        <p:spPr>
          <a:xfrm>
            <a:off x="1539752" y="6454901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3" name="a measured cell positions 2:6 #52"/>
          <p:cNvSpPr/>
          <p:nvPr/>
        </p:nvSpPr>
        <p:spPr>
          <a:xfrm>
            <a:off x="1758787" y="6513637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4" name="a measured cell positions 2:7 #53"/>
          <p:cNvSpPr/>
          <p:nvPr/>
        </p:nvSpPr>
        <p:spPr>
          <a:xfrm>
            <a:off x="1955496" y="6515481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5" name="a measured cell positions 2:8 #54"/>
          <p:cNvSpPr/>
          <p:nvPr/>
        </p:nvSpPr>
        <p:spPr>
          <a:xfrm>
            <a:off x="2160918" y="6469584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6" name="a measured cell positions 2:9 #55"/>
          <p:cNvSpPr/>
          <p:nvPr/>
        </p:nvSpPr>
        <p:spPr>
          <a:xfrm>
            <a:off x="2362589" y="6473802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7" name="a measured cell positions 2:10 #56"/>
          <p:cNvSpPr/>
          <p:nvPr/>
        </p:nvSpPr>
        <p:spPr>
          <a:xfrm>
            <a:off x="2559462" y="6475368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8" name="a measured cell positions 2:11 #57"/>
          <p:cNvSpPr/>
          <p:nvPr/>
        </p:nvSpPr>
        <p:spPr>
          <a:xfrm>
            <a:off x="2752300" y="6480131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9" name="a measured cell positions 2:12 #58"/>
          <p:cNvSpPr/>
          <p:nvPr/>
        </p:nvSpPr>
        <p:spPr>
          <a:xfrm>
            <a:off x="2940580" y="6501613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0" name="a measured cell positions 3:0 #59"/>
          <p:cNvSpPr/>
          <p:nvPr/>
        </p:nvSpPr>
        <p:spPr>
          <a:xfrm>
            <a:off x="592518" y="6617770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1" name="a measured cell positions 3:1 #60"/>
          <p:cNvSpPr/>
          <p:nvPr/>
        </p:nvSpPr>
        <p:spPr>
          <a:xfrm>
            <a:off x="756566" y="6619712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2" name="a measured cell positions 3:2 #61"/>
          <p:cNvSpPr/>
          <p:nvPr/>
        </p:nvSpPr>
        <p:spPr>
          <a:xfrm>
            <a:off x="964521" y="6637264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3" name="a measured cell positions 3:3 #62"/>
          <p:cNvSpPr/>
          <p:nvPr/>
        </p:nvSpPr>
        <p:spPr>
          <a:xfrm>
            <a:off x="1201434" y="6618414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4" name="a measured cell positions 3:4 #63"/>
          <p:cNvSpPr/>
          <p:nvPr/>
        </p:nvSpPr>
        <p:spPr>
          <a:xfrm>
            <a:off x="1340830" y="6663321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5" name="a measured cell positions 3:5 #64"/>
          <p:cNvSpPr/>
          <p:nvPr/>
        </p:nvSpPr>
        <p:spPr>
          <a:xfrm>
            <a:off x="1582575" y="6665638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6" name="a measured cell positions 3:6 #65"/>
          <p:cNvSpPr/>
          <p:nvPr/>
        </p:nvSpPr>
        <p:spPr>
          <a:xfrm>
            <a:off x="1752475" y="6653457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7" name="a measured cell positions 3:7 #66"/>
          <p:cNvSpPr/>
          <p:nvPr/>
        </p:nvSpPr>
        <p:spPr>
          <a:xfrm>
            <a:off x="1977399" y="6638180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8" name="a measured cell positions 3:8 #67"/>
          <p:cNvSpPr/>
          <p:nvPr/>
        </p:nvSpPr>
        <p:spPr>
          <a:xfrm>
            <a:off x="2187202" y="6650356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69" name="a measured cell positions 3:9 #68"/>
          <p:cNvSpPr/>
          <p:nvPr/>
        </p:nvSpPr>
        <p:spPr>
          <a:xfrm>
            <a:off x="2320172" y="6663298"/>
            <a:ext cx="76810" cy="61448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70" name="a measured cell positions 3:10 #69"/>
          <p:cNvSpPr/>
          <p:nvPr/>
        </p:nvSpPr>
        <p:spPr>
          <a:xfrm>
            <a:off x="2540615" y="6627439"/>
            <a:ext cx="76810" cy="6144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71" name="a measured cell positions 3:11 #70"/>
          <p:cNvSpPr/>
          <p:nvPr/>
        </p:nvSpPr>
        <p:spPr>
          <a:xfrm>
            <a:off x="2749835" y="6659430"/>
            <a:ext cx="76810" cy="61448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72" name="a measured cell positions 3:12 #71"/>
          <p:cNvSpPr/>
          <p:nvPr/>
        </p:nvSpPr>
        <p:spPr>
          <a:xfrm>
            <a:off x="2933652" y="6619966"/>
            <a:ext cx="76810" cy="61448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73" name="a measured expression heatmap cell 0:0 #72"/>
          <p:cNvSpPr/>
          <p:nvPr/>
        </p:nvSpPr>
        <p:spPr>
          <a:xfrm>
            <a:off x="1097280" y="7863840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a measured expression heatmap cell 0:1 #73"/>
          <p:cNvSpPr/>
          <p:nvPr/>
        </p:nvSpPr>
        <p:spPr>
          <a:xfrm>
            <a:off x="1308608" y="7863840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a measured expression heatmap cell 0:2 #74"/>
          <p:cNvSpPr/>
          <p:nvPr/>
        </p:nvSpPr>
        <p:spPr>
          <a:xfrm>
            <a:off x="1519936" y="7863840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a measured expression heatmap cell 0:3 #75"/>
          <p:cNvSpPr/>
          <p:nvPr/>
        </p:nvSpPr>
        <p:spPr>
          <a:xfrm>
            <a:off x="1731264" y="7863840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a measured expression heatmap cell 0:4 #76"/>
          <p:cNvSpPr/>
          <p:nvPr/>
        </p:nvSpPr>
        <p:spPr>
          <a:xfrm>
            <a:off x="1942592" y="7863840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a measured expression heatmap cell 0:5 #77"/>
          <p:cNvSpPr/>
          <p:nvPr/>
        </p:nvSpPr>
        <p:spPr>
          <a:xfrm>
            <a:off x="2153920" y="7863840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a measured expression heatmap cell 0:6 #78"/>
          <p:cNvSpPr/>
          <p:nvPr/>
        </p:nvSpPr>
        <p:spPr>
          <a:xfrm>
            <a:off x="2365248" y="7863840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a measured expression heatmap cell 0:7 #79"/>
          <p:cNvSpPr/>
          <p:nvPr/>
        </p:nvSpPr>
        <p:spPr>
          <a:xfrm>
            <a:off x="2576576" y="7863840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a measured expression heatmap cell 0:8 #80"/>
          <p:cNvSpPr/>
          <p:nvPr/>
        </p:nvSpPr>
        <p:spPr>
          <a:xfrm>
            <a:off x="2787904" y="7863840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a measured expression heatmap cell 1:0 #81"/>
          <p:cNvSpPr/>
          <p:nvPr/>
        </p:nvSpPr>
        <p:spPr>
          <a:xfrm>
            <a:off x="1097280" y="8053578"/>
            <a:ext cx="200355" cy="178765"/>
          </a:xfrm>
          <a:prstGeom prst="rect">
            <a:avLst/>
          </a:prstGeom>
          <a:solidFill>
            <a:srgbClr val="776B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a measured expression heatmap cell 1:1 #82"/>
          <p:cNvSpPr/>
          <p:nvPr/>
        </p:nvSpPr>
        <p:spPr>
          <a:xfrm>
            <a:off x="1308608" y="8053578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a measured expression heatmap cell 1:2 #83"/>
          <p:cNvSpPr/>
          <p:nvPr/>
        </p:nvSpPr>
        <p:spPr>
          <a:xfrm>
            <a:off x="1519936" y="8053578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a measured expression heatmap cell 1:3 #84"/>
          <p:cNvSpPr/>
          <p:nvPr/>
        </p:nvSpPr>
        <p:spPr>
          <a:xfrm>
            <a:off x="1731264" y="8053578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a measured expression heatmap cell 1:4 #85"/>
          <p:cNvSpPr/>
          <p:nvPr/>
        </p:nvSpPr>
        <p:spPr>
          <a:xfrm>
            <a:off x="1942592" y="8053578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a measured expression heatmap cell 1:5 #86"/>
          <p:cNvSpPr/>
          <p:nvPr/>
        </p:nvSpPr>
        <p:spPr>
          <a:xfrm>
            <a:off x="2153920" y="8053578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a measured expression heatmap cell 1:6 #87"/>
          <p:cNvSpPr/>
          <p:nvPr/>
        </p:nvSpPr>
        <p:spPr>
          <a:xfrm>
            <a:off x="2365248" y="8053578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a measured expression heatmap cell 1:7 #88"/>
          <p:cNvSpPr/>
          <p:nvPr/>
        </p:nvSpPr>
        <p:spPr>
          <a:xfrm>
            <a:off x="2576576" y="8053578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a measured expression heatmap cell 1:8 #89"/>
          <p:cNvSpPr/>
          <p:nvPr/>
        </p:nvSpPr>
        <p:spPr>
          <a:xfrm>
            <a:off x="2787904" y="8053578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a measured expression heatmap cell 2:0 #90"/>
          <p:cNvSpPr/>
          <p:nvPr/>
        </p:nvSpPr>
        <p:spPr>
          <a:xfrm>
            <a:off x="1097280" y="8243316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a measured expression heatmap cell 2:1 #91"/>
          <p:cNvSpPr/>
          <p:nvPr/>
        </p:nvSpPr>
        <p:spPr>
          <a:xfrm>
            <a:off x="1308608" y="8243316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a measured expression heatmap cell 2:2 #92"/>
          <p:cNvSpPr/>
          <p:nvPr/>
        </p:nvSpPr>
        <p:spPr>
          <a:xfrm>
            <a:off x="1519936" y="8243316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a measured expression heatmap cell 2:3 #93"/>
          <p:cNvSpPr/>
          <p:nvPr/>
        </p:nvSpPr>
        <p:spPr>
          <a:xfrm>
            <a:off x="1731264" y="8243316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a measured expression heatmap cell 2:4 #94"/>
          <p:cNvSpPr/>
          <p:nvPr/>
        </p:nvSpPr>
        <p:spPr>
          <a:xfrm>
            <a:off x="1942592" y="8243316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a measured expression heatmap cell 2:5 #95"/>
          <p:cNvSpPr/>
          <p:nvPr/>
        </p:nvSpPr>
        <p:spPr>
          <a:xfrm>
            <a:off x="2153920" y="8243316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a measured expression heatmap cell 2:6 #96"/>
          <p:cNvSpPr/>
          <p:nvPr/>
        </p:nvSpPr>
        <p:spPr>
          <a:xfrm>
            <a:off x="2365248" y="8243316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a measured expression heatmap cell 2:7 #97"/>
          <p:cNvSpPr/>
          <p:nvPr/>
        </p:nvSpPr>
        <p:spPr>
          <a:xfrm>
            <a:off x="2576576" y="8243316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a measured expression heatmap cell 2:8 #98"/>
          <p:cNvSpPr/>
          <p:nvPr/>
        </p:nvSpPr>
        <p:spPr>
          <a:xfrm>
            <a:off x="2787904" y="8243316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a measured expression heatmap cell 3:0 #99"/>
          <p:cNvSpPr/>
          <p:nvPr/>
        </p:nvSpPr>
        <p:spPr>
          <a:xfrm>
            <a:off x="1097280" y="8433054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a measured expression heatmap cell 3:1 #100"/>
          <p:cNvSpPr/>
          <p:nvPr/>
        </p:nvSpPr>
        <p:spPr>
          <a:xfrm>
            <a:off x="1308608" y="8433054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a measured expression heatmap cell 3:2 #101"/>
          <p:cNvSpPr/>
          <p:nvPr/>
        </p:nvSpPr>
        <p:spPr>
          <a:xfrm>
            <a:off x="1519936" y="8433054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a measured expression heatmap cell 3:3 #102"/>
          <p:cNvSpPr/>
          <p:nvPr/>
        </p:nvSpPr>
        <p:spPr>
          <a:xfrm>
            <a:off x="1731264" y="8433054"/>
            <a:ext cx="200355" cy="178765"/>
          </a:xfrm>
          <a:prstGeom prst="rect">
            <a:avLst/>
          </a:prstGeom>
          <a:solidFill>
            <a:srgbClr val="DBC8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a measured expression heatmap cell 3:4 #103"/>
          <p:cNvSpPr/>
          <p:nvPr/>
        </p:nvSpPr>
        <p:spPr>
          <a:xfrm>
            <a:off x="1942592" y="8433054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a measured expression heatmap cell 3:5 #104"/>
          <p:cNvSpPr/>
          <p:nvPr/>
        </p:nvSpPr>
        <p:spPr>
          <a:xfrm>
            <a:off x="2153920" y="8433054"/>
            <a:ext cx="200355" cy="178765"/>
          </a:xfrm>
          <a:prstGeom prst="rect">
            <a:avLst/>
          </a:prstGeom>
          <a:solidFill>
            <a:srgbClr val="776B9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a measured expression heatmap cell 3:6 #105"/>
          <p:cNvSpPr/>
          <p:nvPr/>
        </p:nvSpPr>
        <p:spPr>
          <a:xfrm>
            <a:off x="2365248" y="8433054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a measured expression heatmap cell 3:7 #106"/>
          <p:cNvSpPr/>
          <p:nvPr/>
        </p:nvSpPr>
        <p:spPr>
          <a:xfrm>
            <a:off x="2576576" y="8433054"/>
            <a:ext cx="200355" cy="178765"/>
          </a:xfrm>
          <a:prstGeom prst="rect">
            <a:avLst/>
          </a:prstGeom>
          <a:solidFill>
            <a:srgbClr val="C68DC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a measured expression heatmap cell 3:8 #107"/>
          <p:cNvSpPr/>
          <p:nvPr/>
        </p:nvSpPr>
        <p:spPr>
          <a:xfrm>
            <a:off x="2787904" y="8433054"/>
            <a:ext cx="200355" cy="178765"/>
          </a:xfrm>
          <a:prstGeom prst="rect">
            <a:avLst/>
          </a:prstGeom>
          <a:solidFill>
            <a:srgbClr val="4F587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b local region #108"/>
          <p:cNvSpPr/>
          <p:nvPr/>
        </p:nvSpPr>
        <p:spPr>
          <a:xfrm>
            <a:off x="3776472" y="1993392"/>
            <a:ext cx="2651760" cy="3282696"/>
          </a:xfrm>
          <a:prstGeom prst="rect">
            <a:avLst/>
          </a:prstGeom>
          <a:solidFill>
            <a:srgbClr val="DBC8ED">
              <a:alpha val="22000"/>
            </a:srgbClr>
          </a:solidFill>
          <a:ln w="10160">
            <a:solidFill>
              <a:srgbClr val="DBC8ED"/>
            </a:solidFill>
            <a:prstDash val="solid"/>
          </a:ln>
        </p:spPr>
      </p:sp>
      <p:sp>
        <p:nvSpPr>
          <p:cNvPr id="110" name="b measured cell 0:0 membrane #109"/>
          <p:cNvSpPr/>
          <p:nvPr/>
        </p:nvSpPr>
        <p:spPr>
          <a:xfrm>
            <a:off x="3844967" y="2098966"/>
            <a:ext cx="124519" cy="10210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11" name="b measured cell 0:0 nucleus #110"/>
          <p:cNvSpPr/>
          <p:nvPr/>
        </p:nvSpPr>
        <p:spPr>
          <a:xfrm>
            <a:off x="3887303" y="2127605"/>
            <a:ext cx="40469" cy="4358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12" name="b measured cell 0:1 membrane #111"/>
          <p:cNvSpPr/>
          <p:nvPr/>
        </p:nvSpPr>
        <p:spPr>
          <a:xfrm>
            <a:off x="4131130" y="2094463"/>
            <a:ext cx="117119" cy="96038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13" name="b measured cell 0:1 nucleus #112"/>
          <p:cNvSpPr/>
          <p:nvPr/>
        </p:nvSpPr>
        <p:spPr>
          <a:xfrm>
            <a:off x="4170950" y="2121401"/>
            <a:ext cx="38064" cy="4099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14" name="b measured cell 0:2 membrane #113"/>
          <p:cNvSpPr/>
          <p:nvPr/>
        </p:nvSpPr>
        <p:spPr>
          <a:xfrm>
            <a:off x="4414277" y="2106466"/>
            <a:ext cx="119418" cy="97923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15" name="b measured cell 0:2 nucleus #114"/>
          <p:cNvSpPr/>
          <p:nvPr/>
        </p:nvSpPr>
        <p:spPr>
          <a:xfrm>
            <a:off x="4454879" y="2133932"/>
            <a:ext cx="38811" cy="4179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16" name="b measured cell 0:3 membrane #115"/>
          <p:cNvSpPr/>
          <p:nvPr/>
        </p:nvSpPr>
        <p:spPr>
          <a:xfrm>
            <a:off x="4704980" y="2101565"/>
            <a:ext cx="115863" cy="95007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17" name="b measured cell 0:3 nucleus #116"/>
          <p:cNvSpPr/>
          <p:nvPr/>
        </p:nvSpPr>
        <p:spPr>
          <a:xfrm>
            <a:off x="4744373" y="2128214"/>
            <a:ext cx="37655" cy="405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18" name="b measured cell 0:4 membrane #117"/>
          <p:cNvSpPr/>
          <p:nvPr/>
        </p:nvSpPr>
        <p:spPr>
          <a:xfrm>
            <a:off x="4981357" y="2099852"/>
            <a:ext cx="127352" cy="104429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19" name="b measured cell 0:4 nucleus #118"/>
          <p:cNvSpPr/>
          <p:nvPr/>
        </p:nvSpPr>
        <p:spPr>
          <a:xfrm>
            <a:off x="5024657" y="2129143"/>
            <a:ext cx="41389" cy="4457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20" name="b measured cell 0:5 membrane #119"/>
          <p:cNvSpPr/>
          <p:nvPr/>
        </p:nvSpPr>
        <p:spPr>
          <a:xfrm>
            <a:off x="5258250" y="2101427"/>
            <a:ext cx="124721" cy="102271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21" name="b measured cell 0:5 nucleus #120"/>
          <p:cNvSpPr/>
          <p:nvPr/>
        </p:nvSpPr>
        <p:spPr>
          <a:xfrm>
            <a:off x="5300655" y="2130113"/>
            <a:ext cx="40534" cy="436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22" name="b measured cell 0:6 membrane #121"/>
          <p:cNvSpPr/>
          <p:nvPr/>
        </p:nvSpPr>
        <p:spPr>
          <a:xfrm>
            <a:off x="5545209" y="2100524"/>
            <a:ext cx="120413" cy="98738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23" name="b measured cell 0:6 nucleus #122"/>
          <p:cNvSpPr/>
          <p:nvPr/>
        </p:nvSpPr>
        <p:spPr>
          <a:xfrm>
            <a:off x="5586150" y="2128218"/>
            <a:ext cx="39134" cy="4214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24" name="b measured cell 0:7 membrane #123"/>
          <p:cNvSpPr/>
          <p:nvPr/>
        </p:nvSpPr>
        <p:spPr>
          <a:xfrm>
            <a:off x="5822785" y="2104123"/>
            <a:ext cx="119405" cy="9791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25" name="b measured cell 0:7 nucleus #124"/>
          <p:cNvSpPr/>
          <p:nvPr/>
        </p:nvSpPr>
        <p:spPr>
          <a:xfrm>
            <a:off x="5863383" y="2131587"/>
            <a:ext cx="38807" cy="4179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26" name="b measured cell 0:8 membrane #125"/>
          <p:cNvSpPr/>
          <p:nvPr/>
        </p:nvSpPr>
        <p:spPr>
          <a:xfrm>
            <a:off x="6110851" y="2089905"/>
            <a:ext cx="122427" cy="100390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27" name="b measured cell 0:8 nucleus #126"/>
          <p:cNvSpPr/>
          <p:nvPr/>
        </p:nvSpPr>
        <p:spPr>
          <a:xfrm>
            <a:off x="6152476" y="2118063"/>
            <a:ext cx="39789" cy="4284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28" name="b measured cell 1:0 membrane #127"/>
          <p:cNvSpPr/>
          <p:nvPr/>
        </p:nvSpPr>
        <p:spPr>
          <a:xfrm>
            <a:off x="3877815" y="2364699"/>
            <a:ext cx="124262" cy="101895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29" name="b measured cell 1:0 nucleus #128"/>
          <p:cNvSpPr/>
          <p:nvPr/>
        </p:nvSpPr>
        <p:spPr>
          <a:xfrm>
            <a:off x="3920064" y="2393279"/>
            <a:ext cx="40385" cy="4349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30" name="b measured cell 1:1 membrane #129"/>
          <p:cNvSpPr/>
          <p:nvPr/>
        </p:nvSpPr>
        <p:spPr>
          <a:xfrm>
            <a:off x="4157325" y="2363488"/>
            <a:ext cx="126239" cy="103516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31" name="b measured cell 1:1 nucleus #130"/>
          <p:cNvSpPr/>
          <p:nvPr/>
        </p:nvSpPr>
        <p:spPr>
          <a:xfrm>
            <a:off x="4200246" y="2392523"/>
            <a:ext cx="41028" cy="4418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32" name="b measured cell 1:2 membrane #131"/>
          <p:cNvSpPr/>
          <p:nvPr/>
        </p:nvSpPr>
        <p:spPr>
          <a:xfrm>
            <a:off x="4444485" y="2371585"/>
            <a:ext cx="115689" cy="94865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33" name="b measured cell 1:2 nucleus #132"/>
          <p:cNvSpPr/>
          <p:nvPr/>
        </p:nvSpPr>
        <p:spPr>
          <a:xfrm>
            <a:off x="4483819" y="2398193"/>
            <a:ext cx="37599" cy="4049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34" name="b measured cell 1:3 membrane #133"/>
          <p:cNvSpPr/>
          <p:nvPr/>
        </p:nvSpPr>
        <p:spPr>
          <a:xfrm>
            <a:off x="4731014" y="2375282"/>
            <a:ext cx="114478" cy="93872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35" name="b measured cell 1:3 nucleus #134"/>
          <p:cNvSpPr/>
          <p:nvPr/>
        </p:nvSpPr>
        <p:spPr>
          <a:xfrm>
            <a:off x="4769936" y="2401611"/>
            <a:ext cx="37205" cy="4006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36" name="b measured cell 1:4 membrane #135"/>
          <p:cNvSpPr/>
          <p:nvPr/>
        </p:nvSpPr>
        <p:spPr>
          <a:xfrm>
            <a:off x="5008538" y="2365795"/>
            <a:ext cx="116682" cy="95679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37" name="b measured cell 1:4 nucleus #136"/>
          <p:cNvSpPr/>
          <p:nvPr/>
        </p:nvSpPr>
        <p:spPr>
          <a:xfrm>
            <a:off x="5048209" y="2392632"/>
            <a:ext cx="37922" cy="4083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38" name="b measured cell 1:5 membrane #137"/>
          <p:cNvSpPr/>
          <p:nvPr/>
        </p:nvSpPr>
        <p:spPr>
          <a:xfrm>
            <a:off x="5291302" y="2361365"/>
            <a:ext cx="116484" cy="95517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39" name="b measured cell 1:5 nucleus #138"/>
          <p:cNvSpPr/>
          <p:nvPr/>
        </p:nvSpPr>
        <p:spPr>
          <a:xfrm>
            <a:off x="5330906" y="2388156"/>
            <a:ext cx="37857" cy="4076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40" name="b measured cell 1:6 membrane #139"/>
          <p:cNvSpPr/>
          <p:nvPr/>
        </p:nvSpPr>
        <p:spPr>
          <a:xfrm>
            <a:off x="5571236" y="2358163"/>
            <a:ext cx="119408" cy="9791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41" name="b measured cell 1:6 nucleus #140"/>
          <p:cNvSpPr/>
          <p:nvPr/>
        </p:nvSpPr>
        <p:spPr>
          <a:xfrm>
            <a:off x="5611834" y="2385627"/>
            <a:ext cx="38807" cy="4179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42" name="b measured cell 1:7 membrane #141"/>
          <p:cNvSpPr/>
          <p:nvPr/>
        </p:nvSpPr>
        <p:spPr>
          <a:xfrm>
            <a:off x="5860090" y="2372382"/>
            <a:ext cx="115750" cy="94915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43" name="b measured cell 1:7 nucleus #142"/>
          <p:cNvSpPr/>
          <p:nvPr/>
        </p:nvSpPr>
        <p:spPr>
          <a:xfrm>
            <a:off x="5899445" y="2399005"/>
            <a:ext cx="37619" cy="405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44" name="b measured cell 1:8 membrane #143"/>
          <p:cNvSpPr/>
          <p:nvPr/>
        </p:nvSpPr>
        <p:spPr>
          <a:xfrm>
            <a:off x="6137104" y="2358494"/>
            <a:ext cx="127909" cy="104886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45" name="b measured cell 1:8 nucleus #144"/>
          <p:cNvSpPr/>
          <p:nvPr/>
        </p:nvSpPr>
        <p:spPr>
          <a:xfrm>
            <a:off x="6180593" y="2387913"/>
            <a:ext cx="41571" cy="4476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46" name="b measured cell 2:0 membrane #145"/>
          <p:cNvSpPr/>
          <p:nvPr/>
        </p:nvSpPr>
        <p:spPr>
          <a:xfrm>
            <a:off x="3846264" y="2631551"/>
            <a:ext cx="120178" cy="9854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47" name="b measured cell 2:0 nucleus #146"/>
          <p:cNvSpPr/>
          <p:nvPr/>
        </p:nvSpPr>
        <p:spPr>
          <a:xfrm>
            <a:off x="3887124" y="2659192"/>
            <a:ext cx="39058" cy="4206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48" name="b measured cell 2:1 membrane #147"/>
          <p:cNvSpPr/>
          <p:nvPr/>
        </p:nvSpPr>
        <p:spPr>
          <a:xfrm>
            <a:off x="4131194" y="2640369"/>
            <a:ext cx="122963" cy="100830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49" name="b measured cell 2:1 nucleus #148"/>
          <p:cNvSpPr/>
          <p:nvPr/>
        </p:nvSpPr>
        <p:spPr>
          <a:xfrm>
            <a:off x="4173001" y="2668651"/>
            <a:ext cx="39963" cy="4303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50" name="b measured cell 2:2 membrane #149"/>
          <p:cNvSpPr/>
          <p:nvPr/>
        </p:nvSpPr>
        <p:spPr>
          <a:xfrm>
            <a:off x="4413755" y="2620648"/>
            <a:ext cx="127928" cy="104901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51" name="b measured cell 2:2 nucleus #150"/>
          <p:cNvSpPr/>
          <p:nvPr/>
        </p:nvSpPr>
        <p:spPr>
          <a:xfrm>
            <a:off x="4457251" y="2650071"/>
            <a:ext cx="41576" cy="4477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52" name="b measured cell 2:3 membrane #151"/>
          <p:cNvSpPr/>
          <p:nvPr/>
        </p:nvSpPr>
        <p:spPr>
          <a:xfrm>
            <a:off x="4702883" y="2636856"/>
            <a:ext cx="113878" cy="93380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53" name="b measured cell 2:3 nucleus #152"/>
          <p:cNvSpPr/>
          <p:nvPr/>
        </p:nvSpPr>
        <p:spPr>
          <a:xfrm>
            <a:off x="4741601" y="2663048"/>
            <a:ext cx="37010" cy="3985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54" name="b measured cell 2:4 membrane #153"/>
          <p:cNvSpPr/>
          <p:nvPr/>
        </p:nvSpPr>
        <p:spPr>
          <a:xfrm>
            <a:off x="4983469" y="2644852"/>
            <a:ext cx="112276" cy="9206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55" name="b measured cell 2:4 nucleus #154"/>
          <p:cNvSpPr/>
          <p:nvPr/>
        </p:nvSpPr>
        <p:spPr>
          <a:xfrm>
            <a:off x="5021643" y="2670676"/>
            <a:ext cx="36490" cy="3929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56" name="b measured cell 2:5 membrane #155"/>
          <p:cNvSpPr/>
          <p:nvPr/>
        </p:nvSpPr>
        <p:spPr>
          <a:xfrm>
            <a:off x="5264064" y="2644239"/>
            <a:ext cx="112028" cy="91863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57" name="b measured cell 2:5 nucleus #156"/>
          <p:cNvSpPr/>
          <p:nvPr/>
        </p:nvSpPr>
        <p:spPr>
          <a:xfrm>
            <a:off x="5302153" y="2670006"/>
            <a:ext cx="36409" cy="3921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58" name="b measured cell 2:6 membrane #157"/>
          <p:cNvSpPr/>
          <p:nvPr/>
        </p:nvSpPr>
        <p:spPr>
          <a:xfrm>
            <a:off x="5547213" y="2626322"/>
            <a:ext cx="123148" cy="100982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59" name="b measured cell 2:6 nucleus #158"/>
          <p:cNvSpPr/>
          <p:nvPr/>
        </p:nvSpPr>
        <p:spPr>
          <a:xfrm>
            <a:off x="5589083" y="2654646"/>
            <a:ext cx="40023" cy="4310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60" name="b measured cell 2:7 membrane #159"/>
          <p:cNvSpPr/>
          <p:nvPr/>
        </p:nvSpPr>
        <p:spPr>
          <a:xfrm>
            <a:off x="5835501" y="2642628"/>
            <a:ext cx="112268" cy="92060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61" name="b measured cell 2:7 nucleus #160"/>
          <p:cNvSpPr/>
          <p:nvPr/>
        </p:nvSpPr>
        <p:spPr>
          <a:xfrm>
            <a:off x="5873672" y="2668450"/>
            <a:ext cx="36487" cy="3929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62" name="b measured cell 2:8 membrane #161"/>
          <p:cNvSpPr/>
          <p:nvPr/>
        </p:nvSpPr>
        <p:spPr>
          <a:xfrm>
            <a:off x="6103400" y="2630739"/>
            <a:ext cx="123690" cy="10142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63" name="b measured cell 2:8 nucleus #162"/>
          <p:cNvSpPr/>
          <p:nvPr/>
        </p:nvSpPr>
        <p:spPr>
          <a:xfrm>
            <a:off x="6145455" y="2659188"/>
            <a:ext cx="40199" cy="4329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64" name="b measured cell 3:0 membrane #163"/>
          <p:cNvSpPr/>
          <p:nvPr/>
        </p:nvSpPr>
        <p:spPr>
          <a:xfrm>
            <a:off x="3876710" y="2897284"/>
            <a:ext cx="113707" cy="93240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65" name="b measured cell 3:0 nucleus #164"/>
          <p:cNvSpPr/>
          <p:nvPr/>
        </p:nvSpPr>
        <p:spPr>
          <a:xfrm>
            <a:off x="3915371" y="2923437"/>
            <a:ext cx="36955" cy="3979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66" name="b measured cell 3:1 membrane #165"/>
          <p:cNvSpPr/>
          <p:nvPr/>
        </p:nvSpPr>
        <p:spPr>
          <a:xfrm>
            <a:off x="4152788" y="2901586"/>
            <a:ext cx="130730" cy="107199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67" name="b measured cell 3:1 nucleus #166"/>
          <p:cNvSpPr/>
          <p:nvPr/>
        </p:nvSpPr>
        <p:spPr>
          <a:xfrm>
            <a:off x="4197236" y="2931654"/>
            <a:ext cx="42487" cy="4575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68" name="b measured cell 3:2 membrane #167"/>
          <p:cNvSpPr/>
          <p:nvPr/>
        </p:nvSpPr>
        <p:spPr>
          <a:xfrm>
            <a:off x="4438035" y="2908151"/>
            <a:ext cx="115333" cy="94573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69" name="b measured cell 3:2 nucleus #168"/>
          <p:cNvSpPr/>
          <p:nvPr/>
        </p:nvSpPr>
        <p:spPr>
          <a:xfrm>
            <a:off x="4477248" y="2934678"/>
            <a:ext cx="37483" cy="4036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70" name="b measured cell 3:3 membrane #169"/>
          <p:cNvSpPr/>
          <p:nvPr/>
        </p:nvSpPr>
        <p:spPr>
          <a:xfrm>
            <a:off x="4722920" y="2892142"/>
            <a:ext cx="125637" cy="103022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71" name="b measured cell 3:3 nucleus #170"/>
          <p:cNvSpPr/>
          <p:nvPr/>
        </p:nvSpPr>
        <p:spPr>
          <a:xfrm>
            <a:off x="4765637" y="2921039"/>
            <a:ext cx="40832" cy="4397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72" name="b measured cell 3:4 membrane #171"/>
          <p:cNvSpPr/>
          <p:nvPr/>
        </p:nvSpPr>
        <p:spPr>
          <a:xfrm>
            <a:off x="5006407" y="2902229"/>
            <a:ext cx="116472" cy="95507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73" name="b measured cell 3:4 nucleus #172"/>
          <p:cNvSpPr/>
          <p:nvPr/>
        </p:nvSpPr>
        <p:spPr>
          <a:xfrm>
            <a:off x="5046008" y="2929017"/>
            <a:ext cx="37853" cy="4076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74" name="b measured cell 3:5 membrane #173"/>
          <p:cNvSpPr/>
          <p:nvPr/>
        </p:nvSpPr>
        <p:spPr>
          <a:xfrm>
            <a:off x="5285521" y="2896461"/>
            <a:ext cx="124788" cy="102326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75" name="b measured cell 3:5 nucleus #174"/>
          <p:cNvSpPr/>
          <p:nvPr/>
        </p:nvSpPr>
        <p:spPr>
          <a:xfrm>
            <a:off x="5327949" y="2925162"/>
            <a:ext cx="40556" cy="4367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76" name="b measured cell 3:6 membrane #175"/>
          <p:cNvSpPr/>
          <p:nvPr/>
        </p:nvSpPr>
        <p:spPr>
          <a:xfrm>
            <a:off x="5563939" y="2884995"/>
            <a:ext cx="131158" cy="107549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77" name="b measured cell 3:6 nucleus #176"/>
          <p:cNvSpPr/>
          <p:nvPr/>
        </p:nvSpPr>
        <p:spPr>
          <a:xfrm>
            <a:off x="5608532" y="2915161"/>
            <a:ext cx="42626" cy="4590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78" name="b measured cell 3:7 membrane #177"/>
          <p:cNvSpPr/>
          <p:nvPr/>
        </p:nvSpPr>
        <p:spPr>
          <a:xfrm>
            <a:off x="5856961" y="2908931"/>
            <a:ext cx="110398" cy="90526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79" name="b measured cell 3:7 nucleus #178"/>
          <p:cNvSpPr/>
          <p:nvPr/>
        </p:nvSpPr>
        <p:spPr>
          <a:xfrm>
            <a:off x="5894496" y="2934322"/>
            <a:ext cx="35879" cy="3863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80" name="b measured cell 3:8 membrane #179"/>
          <p:cNvSpPr/>
          <p:nvPr/>
        </p:nvSpPr>
        <p:spPr>
          <a:xfrm>
            <a:off x="6132503" y="2900999"/>
            <a:ext cx="123510" cy="101278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81" name="b measured cell 3:8 nucleus #180"/>
          <p:cNvSpPr/>
          <p:nvPr/>
        </p:nvSpPr>
        <p:spPr>
          <a:xfrm>
            <a:off x="6174497" y="2929406"/>
            <a:ext cx="40141" cy="4322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82" name="b measured cell 4:0 membrane #181"/>
          <p:cNvSpPr/>
          <p:nvPr/>
        </p:nvSpPr>
        <p:spPr>
          <a:xfrm>
            <a:off x="3853071" y="3169275"/>
            <a:ext cx="115634" cy="94820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83" name="b measured cell 4:0 nucleus #182"/>
          <p:cNvSpPr/>
          <p:nvPr/>
        </p:nvSpPr>
        <p:spPr>
          <a:xfrm>
            <a:off x="3892386" y="3195870"/>
            <a:ext cx="37581" cy="4047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84" name="b measured cell 4:1 membrane #183"/>
          <p:cNvSpPr/>
          <p:nvPr/>
        </p:nvSpPr>
        <p:spPr>
          <a:xfrm>
            <a:off x="4133366" y="3166474"/>
            <a:ext cx="116192" cy="95278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85" name="b measured cell 4:1 nucleus #184"/>
          <p:cNvSpPr/>
          <p:nvPr/>
        </p:nvSpPr>
        <p:spPr>
          <a:xfrm>
            <a:off x="4172872" y="3193198"/>
            <a:ext cx="37762" cy="4066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86" name="b measured cell 4:2 membrane #185"/>
          <p:cNvSpPr/>
          <p:nvPr/>
        </p:nvSpPr>
        <p:spPr>
          <a:xfrm>
            <a:off x="4422153" y="3175497"/>
            <a:ext cx="115783" cy="94942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87" name="b measured cell 4:2 nucleus #186"/>
          <p:cNvSpPr/>
          <p:nvPr/>
        </p:nvSpPr>
        <p:spPr>
          <a:xfrm>
            <a:off x="4461520" y="3202127"/>
            <a:ext cx="37630" cy="4052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88" name="b measured cell 4:3 membrane #187"/>
          <p:cNvSpPr/>
          <p:nvPr/>
        </p:nvSpPr>
        <p:spPr>
          <a:xfrm>
            <a:off x="4693324" y="3154450"/>
            <a:ext cx="123795" cy="10151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89" name="b measured cell 4:3 nucleus #188"/>
          <p:cNvSpPr/>
          <p:nvPr/>
        </p:nvSpPr>
        <p:spPr>
          <a:xfrm>
            <a:off x="4735414" y="3182923"/>
            <a:ext cx="40233" cy="4332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90" name="b measured cell 4:4 membrane #189"/>
          <p:cNvSpPr/>
          <p:nvPr/>
        </p:nvSpPr>
        <p:spPr>
          <a:xfrm>
            <a:off x="4976671" y="3161563"/>
            <a:ext cx="129162" cy="105913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91" name="b measured cell 4:4 nucleus #190"/>
          <p:cNvSpPr/>
          <p:nvPr/>
        </p:nvSpPr>
        <p:spPr>
          <a:xfrm>
            <a:off x="5020586" y="3191271"/>
            <a:ext cx="41978" cy="4520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92" name="b measured cell 4:5 membrane #191"/>
          <p:cNvSpPr/>
          <p:nvPr/>
        </p:nvSpPr>
        <p:spPr>
          <a:xfrm>
            <a:off x="5258493" y="3158681"/>
            <a:ext cx="125711" cy="103083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93" name="b measured cell 4:5 nucleus #192"/>
          <p:cNvSpPr/>
          <p:nvPr/>
        </p:nvSpPr>
        <p:spPr>
          <a:xfrm>
            <a:off x="5301235" y="3187594"/>
            <a:ext cx="40856" cy="4399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94" name="b measured cell 4:6 membrane #193"/>
          <p:cNvSpPr/>
          <p:nvPr/>
        </p:nvSpPr>
        <p:spPr>
          <a:xfrm>
            <a:off x="5540647" y="3162480"/>
            <a:ext cx="121629" cy="99736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95" name="b measured cell 4:6 nucleus #194"/>
          <p:cNvSpPr/>
          <p:nvPr/>
        </p:nvSpPr>
        <p:spPr>
          <a:xfrm>
            <a:off x="5582001" y="3190454"/>
            <a:ext cx="39529" cy="4257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96" name="b measured cell 4:7 membrane #195"/>
          <p:cNvSpPr/>
          <p:nvPr/>
        </p:nvSpPr>
        <p:spPr>
          <a:xfrm>
            <a:off x="5826445" y="3170235"/>
            <a:ext cx="121816" cy="99889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97" name="b measured cell 4:7 nucleus #196"/>
          <p:cNvSpPr/>
          <p:nvPr/>
        </p:nvSpPr>
        <p:spPr>
          <a:xfrm>
            <a:off x="5867863" y="3198253"/>
            <a:ext cx="39590" cy="4263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198" name="b measured cell 4:8 membrane #197"/>
          <p:cNvSpPr/>
          <p:nvPr/>
        </p:nvSpPr>
        <p:spPr>
          <a:xfrm>
            <a:off x="6118195" y="3160814"/>
            <a:ext cx="115010" cy="94308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199" name="b measured cell 4:8 nucleus #198"/>
          <p:cNvSpPr/>
          <p:nvPr/>
        </p:nvSpPr>
        <p:spPr>
          <a:xfrm>
            <a:off x="6157298" y="3187267"/>
            <a:ext cx="37378" cy="4025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00" name="b measured cell 5:0 membrane #199"/>
          <p:cNvSpPr/>
          <p:nvPr/>
        </p:nvSpPr>
        <p:spPr>
          <a:xfrm>
            <a:off x="3881715" y="3433014"/>
            <a:ext cx="112653" cy="92376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01" name="b measured cell 5:0 nucleus #200"/>
          <p:cNvSpPr/>
          <p:nvPr/>
        </p:nvSpPr>
        <p:spPr>
          <a:xfrm>
            <a:off x="3920018" y="3458924"/>
            <a:ext cx="36612" cy="3942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02" name="b measured cell 5:1 membrane #201"/>
          <p:cNvSpPr/>
          <p:nvPr/>
        </p:nvSpPr>
        <p:spPr>
          <a:xfrm>
            <a:off x="4153735" y="3428085"/>
            <a:ext cx="125221" cy="102681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03" name="b measured cell 5:1 nucleus #202"/>
          <p:cNvSpPr/>
          <p:nvPr/>
        </p:nvSpPr>
        <p:spPr>
          <a:xfrm>
            <a:off x="4196310" y="3456886"/>
            <a:ext cx="40697" cy="4382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04" name="b measured cell 5:2 membrane #203"/>
          <p:cNvSpPr/>
          <p:nvPr/>
        </p:nvSpPr>
        <p:spPr>
          <a:xfrm>
            <a:off x="4436071" y="3431944"/>
            <a:ext cx="130981" cy="107405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05" name="b measured cell 5:2 nucleus #204"/>
          <p:cNvSpPr/>
          <p:nvPr/>
        </p:nvSpPr>
        <p:spPr>
          <a:xfrm>
            <a:off x="4480605" y="3462070"/>
            <a:ext cx="42569" cy="4584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06" name="b measured cell 5:3 membrane #205"/>
          <p:cNvSpPr/>
          <p:nvPr/>
        </p:nvSpPr>
        <p:spPr>
          <a:xfrm>
            <a:off x="4729410" y="3423713"/>
            <a:ext cx="115098" cy="94381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07" name="b measured cell 5:3 nucleus #206"/>
          <p:cNvSpPr/>
          <p:nvPr/>
        </p:nvSpPr>
        <p:spPr>
          <a:xfrm>
            <a:off x="4768544" y="3450185"/>
            <a:ext cx="37407" cy="4028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08" name="b measured cell 5:4 membrane #207"/>
          <p:cNvSpPr/>
          <p:nvPr/>
        </p:nvSpPr>
        <p:spPr>
          <a:xfrm>
            <a:off x="4999987" y="3427540"/>
            <a:ext cx="127505" cy="104554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09" name="b measured cell 5:4 nucleus #208"/>
          <p:cNvSpPr/>
          <p:nvPr/>
        </p:nvSpPr>
        <p:spPr>
          <a:xfrm>
            <a:off x="5043339" y="3456866"/>
            <a:ext cx="41439" cy="4462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10" name="b measured cell 5:5 membrane #209"/>
          <p:cNvSpPr/>
          <p:nvPr/>
        </p:nvSpPr>
        <p:spPr>
          <a:xfrm>
            <a:off x="5289839" y="3424673"/>
            <a:ext cx="115502" cy="9471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11" name="b measured cell 5:5 nucleus #210"/>
          <p:cNvSpPr/>
          <p:nvPr/>
        </p:nvSpPr>
        <p:spPr>
          <a:xfrm>
            <a:off x="5329110" y="3451239"/>
            <a:ext cx="37538" cy="4042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12" name="b measured cell 5:6 membrane #211"/>
          <p:cNvSpPr/>
          <p:nvPr/>
        </p:nvSpPr>
        <p:spPr>
          <a:xfrm>
            <a:off x="5568543" y="3431308"/>
            <a:ext cx="128981" cy="10576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13" name="b measured cell 5:6 nucleus #212"/>
          <p:cNvSpPr/>
          <p:nvPr/>
        </p:nvSpPr>
        <p:spPr>
          <a:xfrm>
            <a:off x="5612396" y="3460974"/>
            <a:ext cx="41919" cy="4514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14" name="b measured cell 5:7 membrane #213"/>
          <p:cNvSpPr/>
          <p:nvPr/>
        </p:nvSpPr>
        <p:spPr>
          <a:xfrm>
            <a:off x="5850855" y="3424415"/>
            <a:ext cx="129829" cy="106460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15" name="b measured cell 5:7 nucleus #214"/>
          <p:cNvSpPr/>
          <p:nvPr/>
        </p:nvSpPr>
        <p:spPr>
          <a:xfrm>
            <a:off x="5894997" y="3454276"/>
            <a:ext cx="42194" cy="4544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16" name="b measured cell 5:8 membrane #215"/>
          <p:cNvSpPr/>
          <p:nvPr/>
        </p:nvSpPr>
        <p:spPr>
          <a:xfrm>
            <a:off x="6131774" y="3433744"/>
            <a:ext cx="119239" cy="97776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17" name="b measured cell 5:8 nucleus #216"/>
          <p:cNvSpPr/>
          <p:nvPr/>
        </p:nvSpPr>
        <p:spPr>
          <a:xfrm>
            <a:off x="6172315" y="3461169"/>
            <a:ext cx="38753" cy="4173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18" name="b measured cell 6:0 membrane #217"/>
          <p:cNvSpPr/>
          <p:nvPr/>
        </p:nvSpPr>
        <p:spPr>
          <a:xfrm>
            <a:off x="3849869" y="3705884"/>
            <a:ext cx="110308" cy="90453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19" name="b measured cell 6:0 nucleus #218"/>
          <p:cNvSpPr/>
          <p:nvPr/>
        </p:nvSpPr>
        <p:spPr>
          <a:xfrm>
            <a:off x="3887373" y="3731255"/>
            <a:ext cx="35850" cy="38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20" name="b measured cell 6:1 membrane #219"/>
          <p:cNvSpPr/>
          <p:nvPr/>
        </p:nvSpPr>
        <p:spPr>
          <a:xfrm>
            <a:off x="4141654" y="3694788"/>
            <a:ext cx="110553" cy="90653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21" name="b measured cell 6:1 nucleus #220"/>
          <p:cNvSpPr/>
          <p:nvPr/>
        </p:nvSpPr>
        <p:spPr>
          <a:xfrm>
            <a:off x="4179242" y="3720215"/>
            <a:ext cx="35930" cy="3869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22" name="b measured cell 6:2 membrane #221"/>
          <p:cNvSpPr/>
          <p:nvPr/>
        </p:nvSpPr>
        <p:spPr>
          <a:xfrm>
            <a:off x="4420610" y="3694008"/>
            <a:ext cx="112300" cy="92086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23" name="b measured cell 6:2 nucleus #222"/>
          <p:cNvSpPr/>
          <p:nvPr/>
        </p:nvSpPr>
        <p:spPr>
          <a:xfrm>
            <a:off x="4458792" y="3719837"/>
            <a:ext cx="36498" cy="3930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24" name="b measured cell 6:3 membrane #223"/>
          <p:cNvSpPr/>
          <p:nvPr/>
        </p:nvSpPr>
        <p:spPr>
          <a:xfrm>
            <a:off x="4690925" y="3701987"/>
            <a:ext cx="122895" cy="100774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25" name="b measured cell 6:3 nucleus #224"/>
          <p:cNvSpPr/>
          <p:nvPr/>
        </p:nvSpPr>
        <p:spPr>
          <a:xfrm>
            <a:off x="4732709" y="3730253"/>
            <a:ext cx="39941" cy="4301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26" name="b measured cell 6:4 membrane #225"/>
          <p:cNvSpPr/>
          <p:nvPr/>
        </p:nvSpPr>
        <p:spPr>
          <a:xfrm>
            <a:off x="4976536" y="3704649"/>
            <a:ext cx="119130" cy="9768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27" name="b measured cell 6:4 nucleus #226"/>
          <p:cNvSpPr/>
          <p:nvPr/>
        </p:nvSpPr>
        <p:spPr>
          <a:xfrm>
            <a:off x="5017040" y="3732048"/>
            <a:ext cx="38717" cy="4169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28" name="b measured cell 6:5 membrane #227"/>
          <p:cNvSpPr/>
          <p:nvPr/>
        </p:nvSpPr>
        <p:spPr>
          <a:xfrm>
            <a:off x="5264438" y="3706770"/>
            <a:ext cx="115243" cy="94499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29" name="b measured cell 6:5 nucleus #228"/>
          <p:cNvSpPr/>
          <p:nvPr/>
        </p:nvSpPr>
        <p:spPr>
          <a:xfrm>
            <a:off x="5303620" y="3733275"/>
            <a:ext cx="37454" cy="4033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30" name="b measured cell 6:6 membrane #229"/>
          <p:cNvSpPr/>
          <p:nvPr/>
        </p:nvSpPr>
        <p:spPr>
          <a:xfrm>
            <a:off x="5544302" y="3683877"/>
            <a:ext cx="131332" cy="107692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31" name="b measured cell 6:6 nucleus #230"/>
          <p:cNvSpPr/>
          <p:nvPr/>
        </p:nvSpPr>
        <p:spPr>
          <a:xfrm>
            <a:off x="5588955" y="3714084"/>
            <a:ext cx="42683" cy="4596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32" name="b measured cell 6:7 membrane #231"/>
          <p:cNvSpPr/>
          <p:nvPr/>
        </p:nvSpPr>
        <p:spPr>
          <a:xfrm>
            <a:off x="5834228" y="3704390"/>
            <a:ext cx="110630" cy="90717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33" name="b measured cell 6:7 nucleus #232"/>
          <p:cNvSpPr/>
          <p:nvPr/>
        </p:nvSpPr>
        <p:spPr>
          <a:xfrm>
            <a:off x="5871842" y="3729835"/>
            <a:ext cx="35955" cy="3872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34" name="b measured cell 6:8 membrane #233"/>
          <p:cNvSpPr/>
          <p:nvPr/>
        </p:nvSpPr>
        <p:spPr>
          <a:xfrm>
            <a:off x="6113655" y="3696779"/>
            <a:ext cx="118838" cy="97447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35" name="b measured cell 6:8 nucleus #234"/>
          <p:cNvSpPr/>
          <p:nvPr/>
        </p:nvSpPr>
        <p:spPr>
          <a:xfrm>
            <a:off x="6154060" y="3724112"/>
            <a:ext cx="38622" cy="4159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36" name="b measured cell 7:0 membrane #235"/>
          <p:cNvSpPr/>
          <p:nvPr/>
        </p:nvSpPr>
        <p:spPr>
          <a:xfrm>
            <a:off x="3884243" y="3972688"/>
            <a:ext cx="113223" cy="92843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37" name="b measured cell 7:0 nucleus #236"/>
          <p:cNvSpPr/>
          <p:nvPr/>
        </p:nvSpPr>
        <p:spPr>
          <a:xfrm>
            <a:off x="3922738" y="3998730"/>
            <a:ext cx="36797" cy="3962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38" name="b measured cell 7:1 membrane #237"/>
          <p:cNvSpPr/>
          <p:nvPr/>
        </p:nvSpPr>
        <p:spPr>
          <a:xfrm>
            <a:off x="4157892" y="3962218"/>
            <a:ext cx="113175" cy="92804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39" name="b measured cell 7:1 nucleus #238"/>
          <p:cNvSpPr/>
          <p:nvPr/>
        </p:nvSpPr>
        <p:spPr>
          <a:xfrm>
            <a:off x="4196372" y="3988248"/>
            <a:ext cx="36782" cy="3961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40" name="b measured cell 7:2 membrane #239"/>
          <p:cNvSpPr/>
          <p:nvPr/>
        </p:nvSpPr>
        <p:spPr>
          <a:xfrm>
            <a:off x="4436507" y="3951535"/>
            <a:ext cx="127215" cy="104317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41" name="b measured cell 7:2 nucleus #240"/>
          <p:cNvSpPr/>
          <p:nvPr/>
        </p:nvSpPr>
        <p:spPr>
          <a:xfrm>
            <a:off x="4479760" y="3980795"/>
            <a:ext cx="41345" cy="4452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42" name="b measured cell 7:3 membrane #241"/>
          <p:cNvSpPr/>
          <p:nvPr/>
        </p:nvSpPr>
        <p:spPr>
          <a:xfrm>
            <a:off x="4730963" y="3964850"/>
            <a:ext cx="113360" cy="92956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43" name="b measured cell 7:3 nucleus #242"/>
          <p:cNvSpPr/>
          <p:nvPr/>
        </p:nvSpPr>
        <p:spPr>
          <a:xfrm>
            <a:off x="4769506" y="3990923"/>
            <a:ext cx="36842" cy="3967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44" name="b measured cell 7:4 membrane #243"/>
          <p:cNvSpPr/>
          <p:nvPr/>
        </p:nvSpPr>
        <p:spPr>
          <a:xfrm>
            <a:off x="5001424" y="3969855"/>
            <a:ext cx="120528" cy="98833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45" name="b measured cell 7:4 nucleus #244"/>
          <p:cNvSpPr/>
          <p:nvPr/>
        </p:nvSpPr>
        <p:spPr>
          <a:xfrm>
            <a:off x="5042403" y="3997576"/>
            <a:ext cx="39171" cy="4218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46" name="b measured cell 7:5 membrane #245"/>
          <p:cNvSpPr/>
          <p:nvPr/>
        </p:nvSpPr>
        <p:spPr>
          <a:xfrm>
            <a:off x="5296128" y="3969181"/>
            <a:ext cx="113452" cy="93031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47" name="b measured cell 7:5 nucleus #246"/>
          <p:cNvSpPr/>
          <p:nvPr/>
        </p:nvSpPr>
        <p:spPr>
          <a:xfrm>
            <a:off x="5334702" y="3995275"/>
            <a:ext cx="36872" cy="397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48" name="b measured cell 7:6 membrane #247"/>
          <p:cNvSpPr/>
          <p:nvPr/>
        </p:nvSpPr>
        <p:spPr>
          <a:xfrm>
            <a:off x="5569302" y="3962855"/>
            <a:ext cx="129471" cy="10616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49" name="b measured cell 7:6 nucleus #248"/>
          <p:cNvSpPr/>
          <p:nvPr/>
        </p:nvSpPr>
        <p:spPr>
          <a:xfrm>
            <a:off x="5613322" y="3992634"/>
            <a:ext cx="42078" cy="4531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50" name="b measured cell 7:7 membrane #249"/>
          <p:cNvSpPr/>
          <p:nvPr/>
        </p:nvSpPr>
        <p:spPr>
          <a:xfrm>
            <a:off x="5856602" y="3956590"/>
            <a:ext cx="112367" cy="92141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51" name="b measured cell 7:7 nucleus #250"/>
          <p:cNvSpPr/>
          <p:nvPr/>
        </p:nvSpPr>
        <p:spPr>
          <a:xfrm>
            <a:off x="5894807" y="3982434"/>
            <a:ext cx="36519" cy="3932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52" name="b measured cell 7:8 membrane #251"/>
          <p:cNvSpPr/>
          <p:nvPr/>
        </p:nvSpPr>
        <p:spPr>
          <a:xfrm>
            <a:off x="6130081" y="3959857"/>
            <a:ext cx="130525" cy="107031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53" name="b measured cell 7:8 nucleus #252"/>
          <p:cNvSpPr/>
          <p:nvPr/>
        </p:nvSpPr>
        <p:spPr>
          <a:xfrm>
            <a:off x="6174459" y="3989877"/>
            <a:ext cx="42421" cy="4568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54" name="b measured cell 8:0 membrane #253"/>
          <p:cNvSpPr/>
          <p:nvPr/>
        </p:nvSpPr>
        <p:spPr>
          <a:xfrm>
            <a:off x="3851636" y="4235649"/>
            <a:ext cx="123200" cy="10102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55" name="b measured cell 8:0 nucleus #254"/>
          <p:cNvSpPr/>
          <p:nvPr/>
        </p:nvSpPr>
        <p:spPr>
          <a:xfrm>
            <a:off x="3893524" y="4263986"/>
            <a:ext cx="40040" cy="4312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56" name="b measured cell 8:1 membrane #255"/>
          <p:cNvSpPr/>
          <p:nvPr/>
        </p:nvSpPr>
        <p:spPr>
          <a:xfrm>
            <a:off x="4133783" y="4225269"/>
            <a:ext cx="117695" cy="96510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57" name="b measured cell 8:1 nucleus #256"/>
          <p:cNvSpPr/>
          <p:nvPr/>
        </p:nvSpPr>
        <p:spPr>
          <a:xfrm>
            <a:off x="4173800" y="4252339"/>
            <a:ext cx="38251" cy="4119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58" name="b measured cell 8:2 membrane #257"/>
          <p:cNvSpPr/>
          <p:nvPr/>
        </p:nvSpPr>
        <p:spPr>
          <a:xfrm>
            <a:off x="4418938" y="4231623"/>
            <a:ext cx="110918" cy="90953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59" name="b measured cell 8:2 nucleus #258"/>
          <p:cNvSpPr/>
          <p:nvPr/>
        </p:nvSpPr>
        <p:spPr>
          <a:xfrm>
            <a:off x="4456650" y="4257135"/>
            <a:ext cx="36048" cy="3882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60" name="b measured cell 8:3 membrane #259"/>
          <p:cNvSpPr/>
          <p:nvPr/>
        </p:nvSpPr>
        <p:spPr>
          <a:xfrm>
            <a:off x="4702063" y="4236044"/>
            <a:ext cx="112269" cy="92061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61" name="b measured cell 8:3 nucleus #260"/>
          <p:cNvSpPr/>
          <p:nvPr/>
        </p:nvSpPr>
        <p:spPr>
          <a:xfrm>
            <a:off x="4740234" y="4261866"/>
            <a:ext cx="36487" cy="3929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62" name="b measured cell 8:4 membrane #261"/>
          <p:cNvSpPr/>
          <p:nvPr/>
        </p:nvSpPr>
        <p:spPr>
          <a:xfrm>
            <a:off x="4978989" y="4222392"/>
            <a:ext cx="130147" cy="106720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63" name="b measured cell 8:4 nucleus #262"/>
          <p:cNvSpPr/>
          <p:nvPr/>
        </p:nvSpPr>
        <p:spPr>
          <a:xfrm>
            <a:off x="5023239" y="4252326"/>
            <a:ext cx="42298" cy="4555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64" name="b measured cell 8:5 membrane #263"/>
          <p:cNvSpPr/>
          <p:nvPr/>
        </p:nvSpPr>
        <p:spPr>
          <a:xfrm>
            <a:off x="5257651" y="4231658"/>
            <a:ext cx="121214" cy="99396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65" name="b measured cell 8:5 nucleus #264"/>
          <p:cNvSpPr/>
          <p:nvPr/>
        </p:nvSpPr>
        <p:spPr>
          <a:xfrm>
            <a:off x="5298863" y="4259537"/>
            <a:ext cx="39395" cy="4242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66" name="b measured cell 8:6 membrane #265"/>
          <p:cNvSpPr/>
          <p:nvPr/>
        </p:nvSpPr>
        <p:spPr>
          <a:xfrm>
            <a:off x="5550298" y="4236903"/>
            <a:ext cx="113627" cy="93174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67" name="b measured cell 8:6 nucleus #266"/>
          <p:cNvSpPr/>
          <p:nvPr/>
        </p:nvSpPr>
        <p:spPr>
          <a:xfrm>
            <a:off x="5588932" y="4263037"/>
            <a:ext cx="36929" cy="3976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68" name="b measured cell 8:7 membrane #267"/>
          <p:cNvSpPr/>
          <p:nvPr/>
        </p:nvSpPr>
        <p:spPr>
          <a:xfrm>
            <a:off x="5827386" y="4228425"/>
            <a:ext cx="112429" cy="9219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69" name="b measured cell 8:7 nucleus #268"/>
          <p:cNvSpPr/>
          <p:nvPr/>
        </p:nvSpPr>
        <p:spPr>
          <a:xfrm>
            <a:off x="5865612" y="4254284"/>
            <a:ext cx="36539" cy="3935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70" name="b measured cell 8:8 membrane #269"/>
          <p:cNvSpPr/>
          <p:nvPr/>
        </p:nvSpPr>
        <p:spPr>
          <a:xfrm>
            <a:off x="6107165" y="4221493"/>
            <a:ext cx="130361" cy="106896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71" name="b measured cell 8:8 nucleus #270"/>
          <p:cNvSpPr/>
          <p:nvPr/>
        </p:nvSpPr>
        <p:spPr>
          <a:xfrm>
            <a:off x="6151487" y="4251476"/>
            <a:ext cx="42367" cy="4562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72" name="b measured cell 9:0 membrane #271"/>
          <p:cNvSpPr/>
          <p:nvPr/>
        </p:nvSpPr>
        <p:spPr>
          <a:xfrm>
            <a:off x="3885587" y="4498450"/>
            <a:ext cx="110399" cy="90527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73" name="b measured cell 9:0 nucleus #272"/>
          <p:cNvSpPr/>
          <p:nvPr/>
        </p:nvSpPr>
        <p:spPr>
          <a:xfrm>
            <a:off x="3923123" y="4523842"/>
            <a:ext cx="35880" cy="3864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74" name="b measured cell 9:1 membrane #273"/>
          <p:cNvSpPr/>
          <p:nvPr/>
        </p:nvSpPr>
        <p:spPr>
          <a:xfrm>
            <a:off x="4152501" y="4504054"/>
            <a:ext cx="120697" cy="98971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75" name="b measured cell 9:1 nucleus #274"/>
          <p:cNvSpPr/>
          <p:nvPr/>
        </p:nvSpPr>
        <p:spPr>
          <a:xfrm>
            <a:off x="4193538" y="4531815"/>
            <a:ext cx="39226" cy="4224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76" name="b measured cell 9:2 membrane #275"/>
          <p:cNvSpPr/>
          <p:nvPr/>
        </p:nvSpPr>
        <p:spPr>
          <a:xfrm>
            <a:off x="4437994" y="4485481"/>
            <a:ext cx="129902" cy="106520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77" name="b measured cell 9:2 nucleus #276"/>
          <p:cNvSpPr/>
          <p:nvPr/>
        </p:nvSpPr>
        <p:spPr>
          <a:xfrm>
            <a:off x="4482161" y="4515358"/>
            <a:ext cx="42218" cy="4546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78" name="b measured cell 9:3 membrane #277"/>
          <p:cNvSpPr/>
          <p:nvPr/>
        </p:nvSpPr>
        <p:spPr>
          <a:xfrm>
            <a:off x="4722440" y="4498043"/>
            <a:ext cx="120134" cy="98510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79" name="b measured cell 9:3 nucleus #278"/>
          <p:cNvSpPr/>
          <p:nvPr/>
        </p:nvSpPr>
        <p:spPr>
          <a:xfrm>
            <a:off x="4763285" y="4525674"/>
            <a:ext cx="39044" cy="4204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80" name="b measured cell 9:4 membrane #279"/>
          <p:cNvSpPr/>
          <p:nvPr/>
        </p:nvSpPr>
        <p:spPr>
          <a:xfrm>
            <a:off x="5012080" y="4505483"/>
            <a:ext cx="110503" cy="90613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81" name="b measured cell 9:4 nucleus #280"/>
          <p:cNvSpPr/>
          <p:nvPr/>
        </p:nvSpPr>
        <p:spPr>
          <a:xfrm>
            <a:off x="5049651" y="4530899"/>
            <a:ext cx="35914" cy="3867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82" name="b measured cell 9:5 membrane #281"/>
          <p:cNvSpPr/>
          <p:nvPr/>
        </p:nvSpPr>
        <p:spPr>
          <a:xfrm>
            <a:off x="5288202" y="4489865"/>
            <a:ext cx="130352" cy="106889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83" name="b measured cell 9:5 nucleus #282"/>
          <p:cNvSpPr/>
          <p:nvPr/>
        </p:nvSpPr>
        <p:spPr>
          <a:xfrm>
            <a:off x="5332522" y="4519846"/>
            <a:ext cx="42364" cy="4562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84" name="b measured cell 9:6 membrane #283"/>
          <p:cNvSpPr/>
          <p:nvPr/>
        </p:nvSpPr>
        <p:spPr>
          <a:xfrm>
            <a:off x="5576424" y="4501991"/>
            <a:ext cx="118000" cy="96760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85" name="b measured cell 9:6 nucleus #284"/>
          <p:cNvSpPr/>
          <p:nvPr/>
        </p:nvSpPr>
        <p:spPr>
          <a:xfrm>
            <a:off x="5616544" y="4529131"/>
            <a:ext cx="38350" cy="4130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86" name="b measured cell 9:7 membrane #285"/>
          <p:cNvSpPr/>
          <p:nvPr/>
        </p:nvSpPr>
        <p:spPr>
          <a:xfrm>
            <a:off x="5855397" y="4483234"/>
            <a:ext cx="125338" cy="102777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87" name="b measured cell 9:7 nucleus #286"/>
          <p:cNvSpPr/>
          <p:nvPr/>
        </p:nvSpPr>
        <p:spPr>
          <a:xfrm>
            <a:off x="5898011" y="4512062"/>
            <a:ext cx="40735" cy="4386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88" name="b measured cell 9:8 membrane #287"/>
          <p:cNvSpPr/>
          <p:nvPr/>
        </p:nvSpPr>
        <p:spPr>
          <a:xfrm>
            <a:off x="6136289" y="4490379"/>
            <a:ext cx="117836" cy="96625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89" name="b measured cell 9:8 nucleus #288"/>
          <p:cNvSpPr/>
          <p:nvPr/>
        </p:nvSpPr>
        <p:spPr>
          <a:xfrm>
            <a:off x="6176353" y="4517482"/>
            <a:ext cx="38297" cy="4124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90" name="b measured cell 10:0 membrane #289"/>
          <p:cNvSpPr/>
          <p:nvPr/>
        </p:nvSpPr>
        <p:spPr>
          <a:xfrm>
            <a:off x="3844093" y="4752707"/>
            <a:ext cx="129888" cy="106508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91" name="b measured cell 10:0 nucleus #290"/>
          <p:cNvSpPr/>
          <p:nvPr/>
        </p:nvSpPr>
        <p:spPr>
          <a:xfrm>
            <a:off x="3888255" y="4782582"/>
            <a:ext cx="42214" cy="4546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92" name="b measured cell 10:1 membrane #291"/>
          <p:cNvSpPr/>
          <p:nvPr/>
        </p:nvSpPr>
        <p:spPr>
          <a:xfrm>
            <a:off x="4127439" y="4755203"/>
            <a:ext cx="123483" cy="101256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93" name="b measured cell 10:1 nucleus #292"/>
          <p:cNvSpPr/>
          <p:nvPr/>
        </p:nvSpPr>
        <p:spPr>
          <a:xfrm>
            <a:off x="4169423" y="4783604"/>
            <a:ext cx="40132" cy="4321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94" name="b measured cell 10:2 membrane #293"/>
          <p:cNvSpPr/>
          <p:nvPr/>
        </p:nvSpPr>
        <p:spPr>
          <a:xfrm>
            <a:off x="4416357" y="4768925"/>
            <a:ext cx="111561" cy="91480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95" name="b measured cell 10:2 nucleus #294"/>
          <p:cNvSpPr/>
          <p:nvPr/>
        </p:nvSpPr>
        <p:spPr>
          <a:xfrm>
            <a:off x="4454288" y="4794584"/>
            <a:ext cx="36257" cy="39046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96" name="b measured cell 10:3 membrane #295"/>
          <p:cNvSpPr/>
          <p:nvPr/>
        </p:nvSpPr>
        <p:spPr>
          <a:xfrm>
            <a:off x="4691039" y="4764945"/>
            <a:ext cx="126547" cy="103768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97" name="b measured cell 10:3 nucleus #296"/>
          <p:cNvSpPr/>
          <p:nvPr/>
        </p:nvSpPr>
        <p:spPr>
          <a:xfrm>
            <a:off x="4734065" y="4794051"/>
            <a:ext cx="41128" cy="4429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298" name="b measured cell 10:4 membrane #297"/>
          <p:cNvSpPr/>
          <p:nvPr/>
        </p:nvSpPr>
        <p:spPr>
          <a:xfrm>
            <a:off x="4982429" y="4757840"/>
            <a:ext cx="118892" cy="97491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299" name="b measured cell 10:4 nucleus #298"/>
          <p:cNvSpPr/>
          <p:nvPr/>
        </p:nvSpPr>
        <p:spPr>
          <a:xfrm>
            <a:off x="5022852" y="4785185"/>
            <a:ext cx="38640" cy="416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00" name="b measured cell 10:5 membrane #299"/>
          <p:cNvSpPr/>
          <p:nvPr/>
        </p:nvSpPr>
        <p:spPr>
          <a:xfrm>
            <a:off x="5262203" y="4758663"/>
            <a:ext cx="116306" cy="95371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01" name="b measured cell 10:5 nucleus #300"/>
          <p:cNvSpPr/>
          <p:nvPr/>
        </p:nvSpPr>
        <p:spPr>
          <a:xfrm>
            <a:off x="5301747" y="4785413"/>
            <a:ext cx="37799" cy="40707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02" name="b measured cell 10:6 membrane #301"/>
          <p:cNvSpPr/>
          <p:nvPr/>
        </p:nvSpPr>
        <p:spPr>
          <a:xfrm>
            <a:off x="5542796" y="4752119"/>
            <a:ext cx="128555" cy="105415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03" name="b measured cell 10:6 nucleus #302"/>
          <p:cNvSpPr/>
          <p:nvPr/>
        </p:nvSpPr>
        <p:spPr>
          <a:xfrm>
            <a:off x="5586505" y="4781687"/>
            <a:ext cx="41780" cy="4499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04" name="b measured cell 10:7 membrane #303"/>
          <p:cNvSpPr/>
          <p:nvPr/>
        </p:nvSpPr>
        <p:spPr>
          <a:xfrm>
            <a:off x="5826167" y="4765638"/>
            <a:ext cx="118910" cy="97506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05" name="b measured cell 10:7 nucleus #304"/>
          <p:cNvSpPr/>
          <p:nvPr/>
        </p:nvSpPr>
        <p:spPr>
          <a:xfrm>
            <a:off x="5866596" y="4792988"/>
            <a:ext cx="38646" cy="4161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06" name="b measured cell 10:8 membrane #305"/>
          <p:cNvSpPr/>
          <p:nvPr/>
        </p:nvSpPr>
        <p:spPr>
          <a:xfrm>
            <a:off x="6102857" y="4752382"/>
            <a:ext cx="125882" cy="103223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07" name="b measured cell 10:8 nucleus #306"/>
          <p:cNvSpPr/>
          <p:nvPr/>
        </p:nvSpPr>
        <p:spPr>
          <a:xfrm>
            <a:off x="6145657" y="4781335"/>
            <a:ext cx="40912" cy="44059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08" name="b measured cell 11:0 membrane #307"/>
          <p:cNvSpPr/>
          <p:nvPr/>
        </p:nvSpPr>
        <p:spPr>
          <a:xfrm>
            <a:off x="3870958" y="5025035"/>
            <a:ext cx="122869" cy="100752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09" name="b measured cell 11:0 nucleus #308"/>
          <p:cNvSpPr/>
          <p:nvPr/>
        </p:nvSpPr>
        <p:spPr>
          <a:xfrm>
            <a:off x="3912733" y="5053295"/>
            <a:ext cx="39932" cy="43004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10" name="b measured cell 11:1 membrane #309"/>
          <p:cNvSpPr/>
          <p:nvPr/>
        </p:nvSpPr>
        <p:spPr>
          <a:xfrm>
            <a:off x="4159853" y="5019441"/>
            <a:ext cx="126290" cy="103558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11" name="b measured cell 11:1 nucleus #310"/>
          <p:cNvSpPr/>
          <p:nvPr/>
        </p:nvSpPr>
        <p:spPr>
          <a:xfrm>
            <a:off x="4202792" y="5048488"/>
            <a:ext cx="41044" cy="4420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12" name="b measured cell 11:2 membrane #311"/>
          <p:cNvSpPr/>
          <p:nvPr/>
        </p:nvSpPr>
        <p:spPr>
          <a:xfrm>
            <a:off x="4441485" y="5029078"/>
            <a:ext cx="118896" cy="9749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13" name="b measured cell 11:2 nucleus #312"/>
          <p:cNvSpPr/>
          <p:nvPr/>
        </p:nvSpPr>
        <p:spPr>
          <a:xfrm>
            <a:off x="4481909" y="5056424"/>
            <a:ext cx="38641" cy="41613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14" name="b measured cell 11:3 membrane #313"/>
          <p:cNvSpPr/>
          <p:nvPr/>
        </p:nvSpPr>
        <p:spPr>
          <a:xfrm>
            <a:off x="4728998" y="5029638"/>
            <a:ext cx="119270" cy="97802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15" name="b measured cell 11:3 nucleus #314"/>
          <p:cNvSpPr/>
          <p:nvPr/>
        </p:nvSpPr>
        <p:spPr>
          <a:xfrm>
            <a:off x="4769550" y="5057070"/>
            <a:ext cx="38763" cy="4174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16" name="b measured cell 11:4 membrane #315"/>
          <p:cNvSpPr/>
          <p:nvPr/>
        </p:nvSpPr>
        <p:spPr>
          <a:xfrm>
            <a:off x="5003596" y="5027749"/>
            <a:ext cx="117872" cy="96655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17" name="b measured cell 11:4 nucleus #316"/>
          <p:cNvSpPr/>
          <p:nvPr/>
        </p:nvSpPr>
        <p:spPr>
          <a:xfrm>
            <a:off x="5043673" y="5054860"/>
            <a:ext cx="38309" cy="4125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18" name="b measured cell 11:5 membrane #317"/>
          <p:cNvSpPr/>
          <p:nvPr/>
        </p:nvSpPr>
        <p:spPr>
          <a:xfrm>
            <a:off x="5296032" y="5029323"/>
            <a:ext cx="114356" cy="9377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19" name="b measured cell 11:5 nucleus #318"/>
          <p:cNvSpPr/>
          <p:nvPr/>
        </p:nvSpPr>
        <p:spPr>
          <a:xfrm>
            <a:off x="5334913" y="5055625"/>
            <a:ext cx="37166" cy="40025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20" name="b measured cell 11:6 membrane #319"/>
          <p:cNvSpPr/>
          <p:nvPr/>
        </p:nvSpPr>
        <p:spPr>
          <a:xfrm>
            <a:off x="5571073" y="5014569"/>
            <a:ext cx="129005" cy="10578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21" name="b measured cell 11:6 nucleus #320"/>
          <p:cNvSpPr/>
          <p:nvPr/>
        </p:nvSpPr>
        <p:spPr>
          <a:xfrm>
            <a:off x="5614935" y="5044240"/>
            <a:ext cx="41927" cy="45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22" name="b measured cell 11:7 membrane #321"/>
          <p:cNvSpPr/>
          <p:nvPr/>
        </p:nvSpPr>
        <p:spPr>
          <a:xfrm>
            <a:off x="5858427" y="5036980"/>
            <a:ext cx="114057" cy="93527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23" name="b measured cell 11:7 nucleus #322"/>
          <p:cNvSpPr/>
          <p:nvPr/>
        </p:nvSpPr>
        <p:spPr>
          <a:xfrm>
            <a:off x="5897206" y="5063213"/>
            <a:ext cx="37068" cy="3992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24" name="b measured cell 11:8 membrane #323"/>
          <p:cNvSpPr/>
          <p:nvPr/>
        </p:nvSpPr>
        <p:spPr>
          <a:xfrm>
            <a:off x="6129723" y="5017410"/>
            <a:ext cx="122974" cy="100839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25" name="b measured cell 11:8 nucleus #324"/>
          <p:cNvSpPr/>
          <p:nvPr/>
        </p:nvSpPr>
        <p:spPr>
          <a:xfrm>
            <a:off x="6171534" y="5045694"/>
            <a:ext cx="39967" cy="43041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26" name="b pseudo-Visium spot 0:0 #325"/>
          <p:cNvSpPr/>
          <p:nvPr/>
        </p:nvSpPr>
        <p:spPr>
          <a:xfrm>
            <a:off x="3904488" y="2322576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27" name="b pseudo-Visium spot 0:1 #326"/>
          <p:cNvSpPr/>
          <p:nvPr/>
        </p:nvSpPr>
        <p:spPr>
          <a:xfrm>
            <a:off x="4727448" y="2322576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28" name="b pseudo-Visium spot 0:2 #327"/>
          <p:cNvSpPr/>
          <p:nvPr/>
        </p:nvSpPr>
        <p:spPr>
          <a:xfrm>
            <a:off x="5550408" y="2322576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29" name="b pseudo-Visium spot 1:0 #328"/>
          <p:cNvSpPr/>
          <p:nvPr/>
        </p:nvSpPr>
        <p:spPr>
          <a:xfrm>
            <a:off x="3904488" y="3300984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0" name="b pseudo-Visium spot 1:1 #329"/>
          <p:cNvSpPr/>
          <p:nvPr/>
        </p:nvSpPr>
        <p:spPr>
          <a:xfrm>
            <a:off x="4727448" y="3300984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1" name="b pseudo-Visium spot 1:2 #330"/>
          <p:cNvSpPr/>
          <p:nvPr/>
        </p:nvSpPr>
        <p:spPr>
          <a:xfrm>
            <a:off x="5550408" y="3300984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2" name="b pseudo-Visium spot 2:0 #331"/>
          <p:cNvSpPr/>
          <p:nvPr/>
        </p:nvSpPr>
        <p:spPr>
          <a:xfrm>
            <a:off x="3904488" y="4279392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3" name="b pseudo-Visium spot 2:1 #332"/>
          <p:cNvSpPr/>
          <p:nvPr/>
        </p:nvSpPr>
        <p:spPr>
          <a:xfrm>
            <a:off x="4727448" y="4279392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4" name="b pseudo-Visium spot 2:2 #333"/>
          <p:cNvSpPr/>
          <p:nvPr/>
        </p:nvSpPr>
        <p:spPr>
          <a:xfrm>
            <a:off x="5550408" y="4279392"/>
            <a:ext cx="585216" cy="585216"/>
          </a:xfrm>
          <a:prstGeom prst="ellipse">
            <a:avLst/>
          </a:prstGeom>
          <a:solidFill>
            <a:srgbClr val="FFFFFF">
              <a:alpha val="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35" name="b selected pseudo-Visium spot #334"/>
          <p:cNvSpPr/>
          <p:nvPr/>
        </p:nvSpPr>
        <p:spPr>
          <a:xfrm>
            <a:off x="5550408" y="3300984"/>
            <a:ext cx="585216" cy="585216"/>
          </a:xfrm>
          <a:prstGeom prst="ellipse">
            <a:avLst/>
          </a:prstGeom>
          <a:solidFill>
            <a:srgbClr val="DBC8ED">
              <a:alpha val="40000"/>
            </a:srgbClr>
          </a:solidFill>
          <a:ln w="35560">
            <a:solidFill>
              <a:srgbClr val="4F587D"/>
            </a:solidFill>
            <a:prstDash val="solid"/>
          </a:ln>
        </p:spPr>
      </p:sp>
      <p:cxnSp>
        <p:nvCxnSpPr>
          <p:cNvPr id="336" name="b magnification top #335"/>
          <p:cNvCxnSpPr/>
          <p:nvPr/>
        </p:nvCxnSpPr>
        <p:spPr>
          <a:xfrm flipV="1">
            <a:off x="6135624" y="2852928"/>
            <a:ext cx="475488" cy="493776"/>
          </a:xfrm>
          <a:prstGeom prst="line">
            <a:avLst/>
          </a:prstGeom>
          <a:noFill/>
          <a:ln w="13970">
            <a:solidFill>
              <a:srgbClr val="776B97"/>
            </a:solidFill>
            <a:prstDash val="dash"/>
            <a:headEnd type="none"/>
            <a:tailEnd type="none"/>
          </a:ln>
        </p:spPr>
      </p:cxnSp>
      <p:cxnSp>
        <p:nvCxnSpPr>
          <p:cNvPr id="337" name="b magnification bottom #336"/>
          <p:cNvCxnSpPr/>
          <p:nvPr/>
        </p:nvCxnSpPr>
        <p:spPr>
          <a:xfrm>
            <a:off x="6135624" y="3831336"/>
            <a:ext cx="475488" cy="73152"/>
          </a:xfrm>
          <a:prstGeom prst="line">
            <a:avLst/>
          </a:prstGeom>
          <a:noFill/>
          <a:ln w="13970">
            <a:solidFill>
              <a:srgbClr val="776B97"/>
            </a:solidFill>
            <a:prstDash val="dash"/>
            <a:headEnd type="none"/>
            <a:tailEnd type="none"/>
          </a:ln>
        </p:spPr>
      </p:cxnSp>
      <p:sp>
        <p:nvSpPr>
          <p:cNvPr id="338" name="b magnified spot #337"/>
          <p:cNvSpPr/>
          <p:nvPr/>
        </p:nvSpPr>
        <p:spPr>
          <a:xfrm>
            <a:off x="6592824" y="2779776"/>
            <a:ext cx="1444752" cy="14447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F587D"/>
            </a:solidFill>
            <a:prstDash val="solid"/>
          </a:ln>
        </p:spPr>
      </p:sp>
      <p:sp>
        <p:nvSpPr>
          <p:cNvPr id="339" name="b inset cell 0 membrane #338"/>
          <p:cNvSpPr/>
          <p:nvPr/>
        </p:nvSpPr>
        <p:spPr>
          <a:xfrm>
            <a:off x="6848856" y="2978201"/>
            <a:ext cx="274320" cy="224942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40" name="b inset cell 0 nucleus #339"/>
          <p:cNvSpPr/>
          <p:nvPr/>
        </p:nvSpPr>
        <p:spPr>
          <a:xfrm>
            <a:off x="6942125" y="3041294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41" name="b inset cell 1 membrane #340"/>
          <p:cNvSpPr/>
          <p:nvPr/>
        </p:nvSpPr>
        <p:spPr>
          <a:xfrm>
            <a:off x="7306056" y="2959913"/>
            <a:ext cx="274320" cy="224942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42" name="b inset cell 1 nucleus #341"/>
          <p:cNvSpPr/>
          <p:nvPr/>
        </p:nvSpPr>
        <p:spPr>
          <a:xfrm>
            <a:off x="7399325" y="3023006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43" name="b inset cell 2 membrane #342"/>
          <p:cNvSpPr/>
          <p:nvPr/>
        </p:nvSpPr>
        <p:spPr>
          <a:xfrm>
            <a:off x="7580376" y="3371393"/>
            <a:ext cx="274320" cy="224942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44" name="b inset cell 2 nucleus #343"/>
          <p:cNvSpPr/>
          <p:nvPr/>
        </p:nvSpPr>
        <p:spPr>
          <a:xfrm>
            <a:off x="7673645" y="3434486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45" name="b inset cell 3 membrane #344"/>
          <p:cNvSpPr/>
          <p:nvPr/>
        </p:nvSpPr>
        <p:spPr>
          <a:xfrm>
            <a:off x="6757416" y="3499409"/>
            <a:ext cx="274320" cy="224942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46" name="b inset cell 3 nucleus #345"/>
          <p:cNvSpPr/>
          <p:nvPr/>
        </p:nvSpPr>
        <p:spPr>
          <a:xfrm>
            <a:off x="6850685" y="3562502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47" name="b inset cell 4 membrane #346"/>
          <p:cNvSpPr/>
          <p:nvPr/>
        </p:nvSpPr>
        <p:spPr>
          <a:xfrm>
            <a:off x="7205472" y="3499409"/>
            <a:ext cx="274320" cy="224942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48" name="b inset cell 4 nucleus #347"/>
          <p:cNvSpPr/>
          <p:nvPr/>
        </p:nvSpPr>
        <p:spPr>
          <a:xfrm>
            <a:off x="7298741" y="3562502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49" name="b inset cell 5 membrane #348"/>
          <p:cNvSpPr/>
          <p:nvPr/>
        </p:nvSpPr>
        <p:spPr>
          <a:xfrm>
            <a:off x="7315200" y="3846881"/>
            <a:ext cx="274320" cy="224942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350" name="b inset cell 5 nucleus #349"/>
          <p:cNvSpPr/>
          <p:nvPr/>
        </p:nvSpPr>
        <p:spPr>
          <a:xfrm>
            <a:off x="7408469" y="3909974"/>
            <a:ext cx="89154" cy="9601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351" name="b aggregation equation frame #350"/>
          <p:cNvSpPr/>
          <p:nvPr/>
        </p:nvSpPr>
        <p:spPr>
          <a:xfrm>
            <a:off x="6556248" y="4489704"/>
            <a:ext cx="1527048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776B97"/>
            </a:solidFill>
            <a:prstDash val="solid"/>
          </a:ln>
        </p:spPr>
      </p:sp>
      <p:sp>
        <p:nvSpPr>
          <p:cNvPr id="352" name="b measured cell legend #351"/>
          <p:cNvSpPr/>
          <p:nvPr/>
        </p:nvSpPr>
        <p:spPr>
          <a:xfrm>
            <a:off x="3813048" y="5504688"/>
            <a:ext cx="128016" cy="128016"/>
          </a:xfrm>
          <a:prstGeom prst="ellipse">
            <a:avLst/>
          </a:prstGeom>
          <a:solidFill>
            <a:srgbClr val="DBC8ED"/>
          </a:solidFill>
          <a:ln w="8890">
            <a:solidFill>
              <a:srgbClr val="776B97"/>
            </a:solidFill>
            <a:prstDash val="solid"/>
          </a:ln>
        </p:spPr>
      </p:sp>
      <p:sp>
        <p:nvSpPr>
          <p:cNvPr id="353" name="b spot legend #352"/>
          <p:cNvSpPr/>
          <p:nvPr/>
        </p:nvSpPr>
        <p:spPr>
          <a:xfrm>
            <a:off x="6272784" y="5500116"/>
            <a:ext cx="164592" cy="16459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776B97"/>
            </a:solidFill>
            <a:prstDash val="solid"/>
          </a:ln>
        </p:spPr>
      </p:sp>
      <p:cxnSp>
        <p:nvCxnSpPr>
          <p:cNvPr id="354" name="b measured region down #353"/>
          <p:cNvCxnSpPr/>
          <p:nvPr/>
        </p:nvCxnSpPr>
        <p:spPr>
          <a:xfrm>
            <a:off x="5925312" y="5285232"/>
            <a:ext cx="0" cy="722376"/>
          </a:xfrm>
          <a:prstGeom prst="line">
            <a:avLst/>
          </a:prstGeom>
          <a:noFill/>
          <a:ln w="22860">
            <a:solidFill>
              <a:srgbClr val="4F587D"/>
            </a:solidFill>
            <a:prstDash val="solid"/>
            <a:headEnd type="none"/>
            <a:tailEnd type="triangle"/>
          </a:ln>
        </p:spPr>
      </p:cxnSp>
      <p:cxnSp>
        <p:nvCxnSpPr>
          <p:cNvPr id="355" name="b branch stem #354"/>
          <p:cNvCxnSpPr/>
          <p:nvPr/>
        </p:nvCxnSpPr>
        <p:spPr>
          <a:xfrm>
            <a:off x="5870448" y="6556248"/>
            <a:ext cx="0" cy="192024"/>
          </a:xfrm>
          <a:prstGeom prst="line">
            <a:avLst/>
          </a:prstGeom>
          <a:noFill/>
          <a:ln w="22860">
            <a:solidFill>
              <a:srgbClr val="4F587D"/>
            </a:solidFill>
            <a:prstDash val="solid"/>
            <a:headEnd type="none"/>
            <a:tailEnd type="none"/>
          </a:ln>
        </p:spPr>
      </p:cxnSp>
      <p:cxnSp>
        <p:nvCxnSpPr>
          <p:cNvPr id="356" name="b retention branch #355"/>
          <p:cNvCxnSpPr/>
          <p:nvPr/>
        </p:nvCxnSpPr>
        <p:spPr>
          <a:xfrm flipH="1">
            <a:off x="4800600" y="6748272"/>
            <a:ext cx="1069848" cy="0"/>
          </a:xfrm>
          <a:prstGeom prst="line">
            <a:avLst/>
          </a:prstGeom>
          <a:noFill/>
          <a:ln w="26670">
            <a:solidFill>
              <a:srgbClr val="4F587D"/>
            </a:solidFill>
            <a:prstDash val="solid"/>
            <a:headEnd type="none"/>
            <a:tailEnd type="none"/>
          </a:ln>
        </p:spPr>
      </p:cxnSp>
      <p:cxnSp>
        <p:nvCxnSpPr>
          <p:cNvPr id="357" name="b retention down #356"/>
          <p:cNvCxnSpPr/>
          <p:nvPr/>
        </p:nvCxnSpPr>
        <p:spPr>
          <a:xfrm>
            <a:off x="4800600" y="6748272"/>
            <a:ext cx="0" cy="292608"/>
          </a:xfrm>
          <a:prstGeom prst="line">
            <a:avLst/>
          </a:prstGeom>
          <a:noFill/>
          <a:ln w="26670">
            <a:solidFill>
              <a:srgbClr val="4F587D"/>
            </a:solidFill>
            <a:prstDash val="solid"/>
            <a:headEnd type="none"/>
            <a:tailEnd type="triangle"/>
          </a:ln>
        </p:spPr>
      </p:cxnSp>
      <p:cxnSp>
        <p:nvCxnSpPr>
          <p:cNvPr id="358" name="b aggregation branch #357"/>
          <p:cNvCxnSpPr/>
          <p:nvPr/>
        </p:nvCxnSpPr>
        <p:spPr>
          <a:xfrm>
            <a:off x="5870448" y="6748272"/>
            <a:ext cx="1170432" cy="0"/>
          </a:xfrm>
          <a:prstGeom prst="line">
            <a:avLst/>
          </a:prstGeom>
          <a:noFill/>
          <a:ln w="26670">
            <a:solidFill>
              <a:srgbClr val="776B97"/>
            </a:solidFill>
            <a:prstDash val="solid"/>
            <a:headEnd type="none"/>
            <a:tailEnd type="none"/>
          </a:ln>
        </p:spPr>
      </p:cxnSp>
      <p:cxnSp>
        <p:nvCxnSpPr>
          <p:cNvPr id="359" name="b aggregation down #358"/>
          <p:cNvCxnSpPr/>
          <p:nvPr/>
        </p:nvCxnSpPr>
        <p:spPr>
          <a:xfrm>
            <a:off x="7040880" y="6748272"/>
            <a:ext cx="0" cy="292608"/>
          </a:xfrm>
          <a:prstGeom prst="line">
            <a:avLst/>
          </a:prstGeom>
          <a:noFill/>
          <a:ln w="26670">
            <a:solidFill>
              <a:srgbClr val="776B97"/>
            </a:solidFill>
            <a:prstDash val="solid"/>
            <a:headEnd type="none"/>
            <a:tailEnd type="triangle"/>
          </a:ln>
        </p:spPr>
      </p:cxnSp>
      <p:sp>
        <p:nvSpPr>
          <p:cNvPr id="360" name="b retained expression #359"/>
          <p:cNvSpPr/>
          <p:nvPr/>
        </p:nvSpPr>
        <p:spPr>
          <a:xfrm>
            <a:off x="3776472" y="7114032"/>
            <a:ext cx="2048256" cy="1947672"/>
          </a:xfrm>
          <a:prstGeom prst="rect">
            <a:avLst/>
          </a:prstGeom>
          <a:solidFill>
            <a:srgbClr val="DBC8ED">
              <a:alpha val="30000"/>
            </a:srgbClr>
          </a:solidFill>
          <a:ln w="15240">
            <a:solidFill>
              <a:srgbClr val="4F587D"/>
            </a:solidFill>
            <a:prstDash val="solid"/>
          </a:ln>
        </p:spPr>
      </p:sp>
      <p:sp>
        <p:nvSpPr>
          <p:cNvPr id="361" name="b coarse observation #360"/>
          <p:cNvSpPr/>
          <p:nvPr/>
        </p:nvSpPr>
        <p:spPr>
          <a:xfrm>
            <a:off x="6025896" y="7114032"/>
            <a:ext cx="2048256" cy="1947672"/>
          </a:xfrm>
          <a:prstGeom prst="rect">
            <a:avLst/>
          </a:prstGeom>
          <a:solidFill>
            <a:srgbClr val="DBC8ED">
              <a:alpha val="35000"/>
            </a:srgbClr>
          </a:solidFill>
          <a:ln w="15240">
            <a:solidFill>
              <a:srgbClr val="776B97"/>
            </a:solidFill>
            <a:prstDash val="solid"/>
          </a:ln>
        </p:spPr>
      </p:sp>
      <p:sp>
        <p:nvSpPr>
          <p:cNvPr id="362" name="c model input container #361"/>
          <p:cNvSpPr/>
          <p:nvPr/>
        </p:nvSpPr>
        <p:spPr>
          <a:xfrm>
            <a:off x="8595360" y="1472184"/>
            <a:ext cx="2651760" cy="1225296"/>
          </a:xfrm>
          <a:prstGeom prst="rect">
            <a:avLst/>
          </a:prstGeom>
          <a:solidFill>
            <a:srgbClr val="DBC8ED">
              <a:alpha val="34000"/>
            </a:srgbClr>
          </a:solidFill>
          <a:ln w="12700">
            <a:solidFill>
              <a:srgbClr val="776B97"/>
            </a:solidFill>
            <a:prstDash val="solid"/>
          </a:ln>
        </p:spPr>
      </p:sp>
      <p:cxnSp>
        <p:nvCxnSpPr>
          <p:cNvPr id="363" name="c input to methods #362"/>
          <p:cNvCxnSpPr/>
          <p:nvPr/>
        </p:nvCxnSpPr>
        <p:spPr>
          <a:xfrm>
            <a:off x="9921240" y="2706624"/>
            <a:ext cx="0" cy="320040"/>
          </a:xfrm>
          <a:prstGeom prst="line">
            <a:avLst/>
          </a:prstGeom>
          <a:noFill/>
          <a:ln w="26670">
            <a:solidFill>
              <a:srgbClr val="776B97"/>
            </a:solidFill>
            <a:prstDash val="solid"/>
            <a:headEnd type="none"/>
            <a:tailEnd type="triangle"/>
          </a:ln>
        </p:spPr>
      </p:cxnSp>
      <p:sp>
        <p:nvSpPr>
          <p:cNvPr id="364" name="c unified protocol container #363"/>
          <p:cNvSpPr/>
          <p:nvPr/>
        </p:nvSpPr>
        <p:spPr>
          <a:xfrm>
            <a:off x="8595360" y="3136392"/>
            <a:ext cx="2651760" cy="4480560"/>
          </a:xfrm>
          <a:prstGeom prst="rect">
            <a:avLst/>
          </a:prstGeom>
          <a:solidFill>
            <a:srgbClr val="FFFFFF"/>
          </a:solidFill>
          <a:ln w="13970">
            <a:solidFill>
              <a:srgbClr val="DBC8ED"/>
            </a:solidFill>
            <a:prstDash val="solid"/>
          </a:ln>
        </p:spPr>
      </p:sp>
      <p:sp>
        <p:nvSpPr>
          <p:cNvPr id="365" name="c method card FineST #364"/>
          <p:cNvSpPr/>
          <p:nvPr/>
        </p:nvSpPr>
        <p:spPr>
          <a:xfrm>
            <a:off x="8814816" y="4105656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66" name="c method card STARS #365"/>
          <p:cNvSpPr/>
          <p:nvPr/>
        </p:nvSpPr>
        <p:spPr>
          <a:xfrm>
            <a:off x="8814816" y="4572000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67" name="c method card sCellST #366"/>
          <p:cNvSpPr/>
          <p:nvPr/>
        </p:nvSpPr>
        <p:spPr>
          <a:xfrm>
            <a:off x="8814816" y="5038344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68" name="c method card HISTEX #367"/>
          <p:cNvSpPr/>
          <p:nvPr/>
        </p:nvSpPr>
        <p:spPr>
          <a:xfrm>
            <a:off x="8814816" y="5504688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69" name="c method card Hist2SR #368"/>
          <p:cNvSpPr/>
          <p:nvPr/>
        </p:nvSpPr>
        <p:spPr>
          <a:xfrm>
            <a:off x="8814816" y="5971032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70" name="c method card DeepSpot2Cell #369"/>
          <p:cNvSpPr/>
          <p:nvPr/>
        </p:nvSpPr>
        <p:spPr>
          <a:xfrm>
            <a:off x="8814816" y="6437376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sp>
        <p:nvSpPr>
          <p:cNvPr id="371" name="c method card PanoSpace #370"/>
          <p:cNvSpPr/>
          <p:nvPr/>
        </p:nvSpPr>
        <p:spPr>
          <a:xfrm>
            <a:off x="8814816" y="6903720"/>
            <a:ext cx="2212848" cy="365760"/>
          </a:xfrm>
          <a:prstGeom prst="rect">
            <a:avLst/>
          </a:prstGeom>
          <a:solidFill>
            <a:srgbClr val="DBC8ED">
              <a:alpha val="55000"/>
            </a:srgbClr>
          </a:solidFill>
          <a:ln w="7620">
            <a:solidFill>
              <a:srgbClr val="DBC8ED"/>
            </a:solidFill>
            <a:prstDash val="solid"/>
          </a:ln>
        </p:spPr>
      </p:sp>
      <p:cxnSp>
        <p:nvCxnSpPr>
          <p:cNvPr id="372" name="c methods to prediction #371"/>
          <p:cNvCxnSpPr/>
          <p:nvPr/>
        </p:nvCxnSpPr>
        <p:spPr>
          <a:xfrm>
            <a:off x="9921240" y="7626096"/>
            <a:ext cx="0" cy="393192"/>
          </a:xfrm>
          <a:prstGeom prst="line">
            <a:avLst/>
          </a:prstGeom>
          <a:noFill/>
          <a:ln w="26670">
            <a:solidFill>
              <a:srgbClr val="776B97"/>
            </a:solidFill>
            <a:prstDash val="solid"/>
            <a:headEnd type="none"/>
            <a:tailEnd type="triangle"/>
          </a:ln>
        </p:spPr>
      </p:cxnSp>
      <p:sp>
        <p:nvSpPr>
          <p:cNvPr id="373" name="c prediction output #372"/>
          <p:cNvSpPr/>
          <p:nvPr/>
        </p:nvSpPr>
        <p:spPr>
          <a:xfrm>
            <a:off x="8595360" y="8138160"/>
            <a:ext cx="2651760" cy="1069848"/>
          </a:xfrm>
          <a:prstGeom prst="rect">
            <a:avLst/>
          </a:prstGeom>
          <a:solidFill>
            <a:srgbClr val="DBC8ED">
              <a:alpha val="32000"/>
            </a:srgbClr>
          </a:solidFill>
          <a:ln w="13970">
            <a:solidFill>
              <a:srgbClr val="776B97"/>
            </a:solidFill>
            <a:prstDash val="solid"/>
          </a:ln>
        </p:spPr>
      </p:sp>
      <p:sp>
        <p:nvSpPr>
          <p:cNvPr id="374" name="d evaluation module 0:0 #373"/>
          <p:cNvSpPr/>
          <p:nvPr/>
        </p:nvSpPr>
        <p:spPr>
          <a:xfrm>
            <a:off x="11795760" y="2313432"/>
            <a:ext cx="2075688" cy="3090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BC8ED"/>
            </a:solidFill>
            <a:prstDash val="solid"/>
          </a:ln>
        </p:spPr>
      </p:sp>
      <p:sp>
        <p:nvSpPr>
          <p:cNvPr id="375" name="d evaluation module 0:1 #374"/>
          <p:cNvSpPr/>
          <p:nvPr/>
        </p:nvSpPr>
        <p:spPr>
          <a:xfrm>
            <a:off x="14017752" y="2313432"/>
            <a:ext cx="2075688" cy="3090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BC8ED"/>
            </a:solidFill>
            <a:prstDash val="solid"/>
          </a:ln>
        </p:spPr>
      </p:sp>
      <p:sp>
        <p:nvSpPr>
          <p:cNvPr id="376" name="d evaluation module 1:0 #375"/>
          <p:cNvSpPr/>
          <p:nvPr/>
        </p:nvSpPr>
        <p:spPr>
          <a:xfrm>
            <a:off x="11795760" y="5486400"/>
            <a:ext cx="2075688" cy="3090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BC8ED"/>
            </a:solidFill>
            <a:prstDash val="solid"/>
          </a:ln>
        </p:spPr>
      </p:sp>
      <p:sp>
        <p:nvSpPr>
          <p:cNvPr id="377" name="d evaluation module 1:1 #376"/>
          <p:cNvSpPr/>
          <p:nvPr/>
        </p:nvSpPr>
        <p:spPr>
          <a:xfrm>
            <a:off x="14017752" y="5486400"/>
            <a:ext cx="2075688" cy="3090672"/>
          </a:xfrm>
          <a:prstGeom prst="rect">
            <a:avLst/>
          </a:prstGeom>
          <a:solidFill>
            <a:srgbClr val="FFFFFF"/>
          </a:solidFill>
          <a:ln w="11430">
            <a:solidFill>
              <a:srgbClr val="DBC8ED"/>
            </a:solidFill>
            <a:prstDash val="solid"/>
          </a:ln>
        </p:spPr>
      </p:sp>
      <p:sp>
        <p:nvSpPr>
          <p:cNvPr id="378" name="d true spatial gene map boundary #377"/>
          <p:cNvSpPr/>
          <p:nvPr/>
        </p:nvSpPr>
        <p:spPr>
          <a:xfrm>
            <a:off x="11960352" y="3886200"/>
            <a:ext cx="722376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E7E7EB"/>
            </a:solidFill>
            <a:prstDash val="solid"/>
          </a:ln>
        </p:spPr>
      </p:sp>
      <p:sp>
        <p:nvSpPr>
          <p:cNvPr id="379" name="d true spatial gene map cell 0:0 #378"/>
          <p:cNvSpPr/>
          <p:nvPr/>
        </p:nvSpPr>
        <p:spPr>
          <a:xfrm>
            <a:off x="12024360" y="3945636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0" name="d true spatial gene map cell 0:1 #379"/>
          <p:cNvSpPr/>
          <p:nvPr/>
        </p:nvSpPr>
        <p:spPr>
          <a:xfrm>
            <a:off x="12144756" y="3945636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1" name="d true spatial gene map cell 0:2 #380"/>
          <p:cNvSpPr/>
          <p:nvPr/>
        </p:nvSpPr>
        <p:spPr>
          <a:xfrm>
            <a:off x="12265152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2" name="d true spatial gene map cell 0:3 #381"/>
          <p:cNvSpPr/>
          <p:nvPr/>
        </p:nvSpPr>
        <p:spPr>
          <a:xfrm>
            <a:off x="12385548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3" name="d true spatial gene map cell 0:4 #382"/>
          <p:cNvSpPr/>
          <p:nvPr/>
        </p:nvSpPr>
        <p:spPr>
          <a:xfrm>
            <a:off x="12505944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4" name="d true spatial gene map cell 0:5 #383"/>
          <p:cNvSpPr/>
          <p:nvPr/>
        </p:nvSpPr>
        <p:spPr>
          <a:xfrm>
            <a:off x="12626340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5" name="d true spatial gene map cell 1:0 #384"/>
          <p:cNvSpPr/>
          <p:nvPr/>
        </p:nvSpPr>
        <p:spPr>
          <a:xfrm>
            <a:off x="12047220" y="4063202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6" name="d true spatial gene map cell 1:1 #385"/>
          <p:cNvSpPr/>
          <p:nvPr/>
        </p:nvSpPr>
        <p:spPr>
          <a:xfrm>
            <a:off x="12167616" y="4063202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7" name="d true spatial gene map cell 1:2 #386"/>
          <p:cNvSpPr/>
          <p:nvPr/>
        </p:nvSpPr>
        <p:spPr>
          <a:xfrm>
            <a:off x="12288012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8" name="d true spatial gene map cell 1:3 #387"/>
          <p:cNvSpPr/>
          <p:nvPr/>
        </p:nvSpPr>
        <p:spPr>
          <a:xfrm>
            <a:off x="12408408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89" name="d true spatial gene map cell 1:4 #388"/>
          <p:cNvSpPr/>
          <p:nvPr/>
        </p:nvSpPr>
        <p:spPr>
          <a:xfrm>
            <a:off x="12528804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0" name="d true spatial gene map cell 1:5 #389"/>
          <p:cNvSpPr/>
          <p:nvPr/>
        </p:nvSpPr>
        <p:spPr>
          <a:xfrm>
            <a:off x="12649200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1" name="d true spatial gene map cell 2:0 #390"/>
          <p:cNvSpPr/>
          <p:nvPr/>
        </p:nvSpPr>
        <p:spPr>
          <a:xfrm>
            <a:off x="12024360" y="4180767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2" name="d true spatial gene map cell 2:1 #391"/>
          <p:cNvSpPr/>
          <p:nvPr/>
        </p:nvSpPr>
        <p:spPr>
          <a:xfrm>
            <a:off x="12144756" y="4180767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3" name="d true spatial gene map cell 2:2 #392"/>
          <p:cNvSpPr/>
          <p:nvPr/>
        </p:nvSpPr>
        <p:spPr>
          <a:xfrm>
            <a:off x="12265152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4" name="d true spatial gene map cell 2:3 #393"/>
          <p:cNvSpPr/>
          <p:nvPr/>
        </p:nvSpPr>
        <p:spPr>
          <a:xfrm>
            <a:off x="12385548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5" name="d true spatial gene map cell 2:4 #394"/>
          <p:cNvSpPr/>
          <p:nvPr/>
        </p:nvSpPr>
        <p:spPr>
          <a:xfrm>
            <a:off x="12505944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6" name="d true spatial gene map cell 2:5 #395"/>
          <p:cNvSpPr/>
          <p:nvPr/>
        </p:nvSpPr>
        <p:spPr>
          <a:xfrm>
            <a:off x="12626340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7" name="d true spatial gene map cell 3:0 #396"/>
          <p:cNvSpPr/>
          <p:nvPr/>
        </p:nvSpPr>
        <p:spPr>
          <a:xfrm>
            <a:off x="12047220" y="4298333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8" name="d true spatial gene map cell 3:1 #397"/>
          <p:cNvSpPr/>
          <p:nvPr/>
        </p:nvSpPr>
        <p:spPr>
          <a:xfrm>
            <a:off x="12167616" y="4298333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399" name="d true spatial gene map cell 3:2 #398"/>
          <p:cNvSpPr/>
          <p:nvPr/>
        </p:nvSpPr>
        <p:spPr>
          <a:xfrm>
            <a:off x="12288012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0" name="d true spatial gene map cell 3:3 #399"/>
          <p:cNvSpPr/>
          <p:nvPr/>
        </p:nvSpPr>
        <p:spPr>
          <a:xfrm>
            <a:off x="12408408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1" name="d true spatial gene map cell 3:4 #400"/>
          <p:cNvSpPr/>
          <p:nvPr/>
        </p:nvSpPr>
        <p:spPr>
          <a:xfrm>
            <a:off x="12528804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2" name="d true spatial gene map cell 3:5 #401"/>
          <p:cNvSpPr/>
          <p:nvPr/>
        </p:nvSpPr>
        <p:spPr>
          <a:xfrm>
            <a:off x="12649200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3" name="d true spatial gene map cell 4:0 #402"/>
          <p:cNvSpPr/>
          <p:nvPr/>
        </p:nvSpPr>
        <p:spPr>
          <a:xfrm>
            <a:off x="12024360" y="4415899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4" name="d true spatial gene map cell 4:1 #403"/>
          <p:cNvSpPr/>
          <p:nvPr/>
        </p:nvSpPr>
        <p:spPr>
          <a:xfrm>
            <a:off x="12144756" y="4415899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5" name="d true spatial gene map cell 4:2 #404"/>
          <p:cNvSpPr/>
          <p:nvPr/>
        </p:nvSpPr>
        <p:spPr>
          <a:xfrm>
            <a:off x="12265152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6" name="d true spatial gene map cell 4:3 #405"/>
          <p:cNvSpPr/>
          <p:nvPr/>
        </p:nvSpPr>
        <p:spPr>
          <a:xfrm>
            <a:off x="12385548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7" name="d true spatial gene map cell 4:4 #406"/>
          <p:cNvSpPr/>
          <p:nvPr/>
        </p:nvSpPr>
        <p:spPr>
          <a:xfrm>
            <a:off x="12505944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8" name="d true spatial gene map cell 4:5 #407"/>
          <p:cNvSpPr/>
          <p:nvPr/>
        </p:nvSpPr>
        <p:spPr>
          <a:xfrm>
            <a:off x="12626340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09" name="d true spatial gene map cell 5:0 #408"/>
          <p:cNvSpPr/>
          <p:nvPr/>
        </p:nvSpPr>
        <p:spPr>
          <a:xfrm>
            <a:off x="12047220" y="4533465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0" name="d true spatial gene map cell 5:1 #409"/>
          <p:cNvSpPr/>
          <p:nvPr/>
        </p:nvSpPr>
        <p:spPr>
          <a:xfrm>
            <a:off x="12167616" y="4533465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1" name="d true spatial gene map cell 5:2 #410"/>
          <p:cNvSpPr/>
          <p:nvPr/>
        </p:nvSpPr>
        <p:spPr>
          <a:xfrm>
            <a:off x="12288012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2" name="d true spatial gene map cell 5:3 #411"/>
          <p:cNvSpPr/>
          <p:nvPr/>
        </p:nvSpPr>
        <p:spPr>
          <a:xfrm>
            <a:off x="12408408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3" name="d true spatial gene map cell 5:4 #412"/>
          <p:cNvSpPr/>
          <p:nvPr/>
        </p:nvSpPr>
        <p:spPr>
          <a:xfrm>
            <a:off x="12528804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4" name="d true spatial gene map cell 5:5 #413"/>
          <p:cNvSpPr/>
          <p:nvPr/>
        </p:nvSpPr>
        <p:spPr>
          <a:xfrm>
            <a:off x="12649200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5" name="d true spatial gene map cell 6:0 #414"/>
          <p:cNvSpPr/>
          <p:nvPr/>
        </p:nvSpPr>
        <p:spPr>
          <a:xfrm>
            <a:off x="12024360" y="4651030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6" name="d true spatial gene map cell 6:1 #415"/>
          <p:cNvSpPr/>
          <p:nvPr/>
        </p:nvSpPr>
        <p:spPr>
          <a:xfrm>
            <a:off x="12144756" y="4651030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7" name="d true spatial gene map cell 6:2 #416"/>
          <p:cNvSpPr/>
          <p:nvPr/>
        </p:nvSpPr>
        <p:spPr>
          <a:xfrm>
            <a:off x="12265152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8" name="d true spatial gene map cell 6:3 #417"/>
          <p:cNvSpPr/>
          <p:nvPr/>
        </p:nvSpPr>
        <p:spPr>
          <a:xfrm>
            <a:off x="12385548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19" name="d true spatial gene map cell 6:4 #418"/>
          <p:cNvSpPr/>
          <p:nvPr/>
        </p:nvSpPr>
        <p:spPr>
          <a:xfrm>
            <a:off x="12505944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0" name="d true spatial gene map cell 6:5 #419"/>
          <p:cNvSpPr/>
          <p:nvPr/>
        </p:nvSpPr>
        <p:spPr>
          <a:xfrm>
            <a:off x="12626340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1" name="d predicted spatial gene map boundary #420"/>
          <p:cNvSpPr/>
          <p:nvPr/>
        </p:nvSpPr>
        <p:spPr>
          <a:xfrm>
            <a:off x="12874752" y="3886200"/>
            <a:ext cx="722376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E7E7EB"/>
            </a:solidFill>
            <a:prstDash val="solid"/>
          </a:ln>
        </p:spPr>
      </p:sp>
      <p:sp>
        <p:nvSpPr>
          <p:cNvPr id="422" name="d predicted spatial gene map cell 0:0 #421"/>
          <p:cNvSpPr/>
          <p:nvPr/>
        </p:nvSpPr>
        <p:spPr>
          <a:xfrm>
            <a:off x="12938760" y="3945636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3" name="d predicted spatial gene map cell 0:1 #422"/>
          <p:cNvSpPr/>
          <p:nvPr/>
        </p:nvSpPr>
        <p:spPr>
          <a:xfrm>
            <a:off x="13059156" y="3945636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4" name="d predicted spatial gene map cell 0:2 #423"/>
          <p:cNvSpPr/>
          <p:nvPr/>
        </p:nvSpPr>
        <p:spPr>
          <a:xfrm>
            <a:off x="13179552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5" name="d predicted spatial gene map cell 0:3 #424"/>
          <p:cNvSpPr/>
          <p:nvPr/>
        </p:nvSpPr>
        <p:spPr>
          <a:xfrm>
            <a:off x="13299948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6" name="d predicted spatial gene map cell 0:4 #425"/>
          <p:cNvSpPr/>
          <p:nvPr/>
        </p:nvSpPr>
        <p:spPr>
          <a:xfrm>
            <a:off x="13420344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7" name="d predicted spatial gene map cell 0:5 #426"/>
          <p:cNvSpPr/>
          <p:nvPr/>
        </p:nvSpPr>
        <p:spPr>
          <a:xfrm>
            <a:off x="13540740" y="3945636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8" name="d predicted spatial gene map cell 1:0 #427"/>
          <p:cNvSpPr/>
          <p:nvPr/>
        </p:nvSpPr>
        <p:spPr>
          <a:xfrm>
            <a:off x="12961620" y="4063202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29" name="d predicted spatial gene map cell 1:1 #428"/>
          <p:cNvSpPr/>
          <p:nvPr/>
        </p:nvSpPr>
        <p:spPr>
          <a:xfrm>
            <a:off x="13082016" y="4063202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0" name="d predicted spatial gene map cell 1:2 #429"/>
          <p:cNvSpPr/>
          <p:nvPr/>
        </p:nvSpPr>
        <p:spPr>
          <a:xfrm>
            <a:off x="13202412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1" name="d predicted spatial gene map cell 1:3 #430"/>
          <p:cNvSpPr/>
          <p:nvPr/>
        </p:nvSpPr>
        <p:spPr>
          <a:xfrm>
            <a:off x="13322808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2" name="d predicted spatial gene map cell 1:4 #431"/>
          <p:cNvSpPr/>
          <p:nvPr/>
        </p:nvSpPr>
        <p:spPr>
          <a:xfrm>
            <a:off x="13443204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3" name="d predicted spatial gene map cell 1:5 #432"/>
          <p:cNvSpPr/>
          <p:nvPr/>
        </p:nvSpPr>
        <p:spPr>
          <a:xfrm>
            <a:off x="13563600" y="4063202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4" name="d predicted spatial gene map cell 2:0 #433"/>
          <p:cNvSpPr/>
          <p:nvPr/>
        </p:nvSpPr>
        <p:spPr>
          <a:xfrm>
            <a:off x="12938760" y="4180767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5" name="d predicted spatial gene map cell 2:1 #434"/>
          <p:cNvSpPr/>
          <p:nvPr/>
        </p:nvSpPr>
        <p:spPr>
          <a:xfrm>
            <a:off x="13059156" y="4180767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6" name="d predicted spatial gene map cell 2:2 #435"/>
          <p:cNvSpPr/>
          <p:nvPr/>
        </p:nvSpPr>
        <p:spPr>
          <a:xfrm>
            <a:off x="13179552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7" name="d predicted spatial gene map cell 2:3 #436"/>
          <p:cNvSpPr/>
          <p:nvPr/>
        </p:nvSpPr>
        <p:spPr>
          <a:xfrm>
            <a:off x="13299948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8" name="d predicted spatial gene map cell 2:4 #437"/>
          <p:cNvSpPr/>
          <p:nvPr/>
        </p:nvSpPr>
        <p:spPr>
          <a:xfrm>
            <a:off x="13420344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39" name="d predicted spatial gene map cell 2:5 #438"/>
          <p:cNvSpPr/>
          <p:nvPr/>
        </p:nvSpPr>
        <p:spPr>
          <a:xfrm>
            <a:off x="13540740" y="4180767"/>
            <a:ext cx="54864" cy="73152"/>
          </a:xfrm>
          <a:prstGeom prst="ellipse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0" name="d predicted spatial gene map cell 3:0 #439"/>
          <p:cNvSpPr/>
          <p:nvPr/>
        </p:nvSpPr>
        <p:spPr>
          <a:xfrm>
            <a:off x="12961620" y="4298333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1" name="d predicted spatial gene map cell 3:1 #440"/>
          <p:cNvSpPr/>
          <p:nvPr/>
        </p:nvSpPr>
        <p:spPr>
          <a:xfrm>
            <a:off x="13082016" y="4298333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2" name="d predicted spatial gene map cell 3:2 #441"/>
          <p:cNvSpPr/>
          <p:nvPr/>
        </p:nvSpPr>
        <p:spPr>
          <a:xfrm>
            <a:off x="13202412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3" name="d predicted spatial gene map cell 3:3 #442"/>
          <p:cNvSpPr/>
          <p:nvPr/>
        </p:nvSpPr>
        <p:spPr>
          <a:xfrm>
            <a:off x="13322808" y="4298333"/>
            <a:ext cx="54864" cy="73152"/>
          </a:xfrm>
          <a:prstGeom prst="ellipse">
            <a:avLst/>
          </a:prstGeom>
          <a:solidFill>
            <a:srgbClr val="C68DC0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4" name="d predicted spatial gene map cell 3:4 #443"/>
          <p:cNvSpPr/>
          <p:nvPr/>
        </p:nvSpPr>
        <p:spPr>
          <a:xfrm>
            <a:off x="13443204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5" name="d predicted spatial gene map cell 3:5 #444"/>
          <p:cNvSpPr/>
          <p:nvPr/>
        </p:nvSpPr>
        <p:spPr>
          <a:xfrm>
            <a:off x="13563600" y="4298333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6" name="d predicted spatial gene map cell 4:0 #445"/>
          <p:cNvSpPr/>
          <p:nvPr/>
        </p:nvSpPr>
        <p:spPr>
          <a:xfrm>
            <a:off x="12938760" y="4415899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7" name="d predicted spatial gene map cell 4:1 #446"/>
          <p:cNvSpPr/>
          <p:nvPr/>
        </p:nvSpPr>
        <p:spPr>
          <a:xfrm>
            <a:off x="13059156" y="4415899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8" name="d predicted spatial gene map cell 4:2 #447"/>
          <p:cNvSpPr/>
          <p:nvPr/>
        </p:nvSpPr>
        <p:spPr>
          <a:xfrm>
            <a:off x="13179552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49" name="d predicted spatial gene map cell 4:3 #448"/>
          <p:cNvSpPr/>
          <p:nvPr/>
        </p:nvSpPr>
        <p:spPr>
          <a:xfrm>
            <a:off x="13299948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0" name="d predicted spatial gene map cell 4:4 #449"/>
          <p:cNvSpPr/>
          <p:nvPr/>
        </p:nvSpPr>
        <p:spPr>
          <a:xfrm>
            <a:off x="13420344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1" name="d predicted spatial gene map cell 4:5 #450"/>
          <p:cNvSpPr/>
          <p:nvPr/>
        </p:nvSpPr>
        <p:spPr>
          <a:xfrm>
            <a:off x="13540740" y="4415899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2" name="d predicted spatial gene map cell 5:0 #451"/>
          <p:cNvSpPr/>
          <p:nvPr/>
        </p:nvSpPr>
        <p:spPr>
          <a:xfrm>
            <a:off x="12961620" y="4533465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3" name="d predicted spatial gene map cell 5:1 #452"/>
          <p:cNvSpPr/>
          <p:nvPr/>
        </p:nvSpPr>
        <p:spPr>
          <a:xfrm>
            <a:off x="13082016" y="4533465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4" name="d predicted spatial gene map cell 5:2 #453"/>
          <p:cNvSpPr/>
          <p:nvPr/>
        </p:nvSpPr>
        <p:spPr>
          <a:xfrm>
            <a:off x="13202412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5" name="d predicted spatial gene map cell 5:3 #454"/>
          <p:cNvSpPr/>
          <p:nvPr/>
        </p:nvSpPr>
        <p:spPr>
          <a:xfrm>
            <a:off x="13322808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6" name="d predicted spatial gene map cell 5:4 #455"/>
          <p:cNvSpPr/>
          <p:nvPr/>
        </p:nvSpPr>
        <p:spPr>
          <a:xfrm>
            <a:off x="13443204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7" name="d predicted spatial gene map cell 5:5 #456"/>
          <p:cNvSpPr/>
          <p:nvPr/>
        </p:nvSpPr>
        <p:spPr>
          <a:xfrm>
            <a:off x="13563600" y="4533465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8" name="d predicted spatial gene map cell 6:0 #457"/>
          <p:cNvSpPr/>
          <p:nvPr/>
        </p:nvSpPr>
        <p:spPr>
          <a:xfrm>
            <a:off x="12938760" y="4651030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59" name="d predicted spatial gene map cell 6:1 #458"/>
          <p:cNvSpPr/>
          <p:nvPr/>
        </p:nvSpPr>
        <p:spPr>
          <a:xfrm>
            <a:off x="13059156" y="4651030"/>
            <a:ext cx="54864" cy="73152"/>
          </a:xfrm>
          <a:prstGeom prst="ellipse">
            <a:avLst/>
          </a:prstGeom>
          <a:solidFill>
            <a:srgbClr val="4F587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60" name="d predicted spatial gene map cell 6:2 #459"/>
          <p:cNvSpPr/>
          <p:nvPr/>
        </p:nvSpPr>
        <p:spPr>
          <a:xfrm>
            <a:off x="13179552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61" name="d predicted spatial gene map cell 6:3 #460"/>
          <p:cNvSpPr/>
          <p:nvPr/>
        </p:nvSpPr>
        <p:spPr>
          <a:xfrm>
            <a:off x="13299948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62" name="d predicted spatial gene map cell 6:4 #461"/>
          <p:cNvSpPr/>
          <p:nvPr/>
        </p:nvSpPr>
        <p:spPr>
          <a:xfrm>
            <a:off x="13420344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63" name="d predicted spatial gene map cell 6:5 #462"/>
          <p:cNvSpPr/>
          <p:nvPr/>
        </p:nvSpPr>
        <p:spPr>
          <a:xfrm>
            <a:off x="13540740" y="4651030"/>
            <a:ext cx="54864" cy="73152"/>
          </a:xfrm>
          <a:prstGeom prst="ellipse">
            <a:avLst/>
          </a:prstGeom>
          <a:solidFill>
            <a:srgbClr val="DBC8ED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cxnSp>
        <p:nvCxnSpPr>
          <p:cNvPr id="464" name="d true cell profile baseline #463"/>
          <p:cNvCxnSpPr/>
          <p:nvPr/>
        </p:nvCxnSpPr>
        <p:spPr>
          <a:xfrm>
            <a:off x="14200632" y="4681728"/>
            <a:ext cx="704088" cy="0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cxnSp>
        <p:nvCxnSpPr>
          <p:cNvPr id="465" name="d true cell profile axis #464"/>
          <p:cNvCxnSpPr/>
          <p:nvPr/>
        </p:nvCxnSpPr>
        <p:spPr>
          <a:xfrm>
            <a:off x="14200632" y="3913632"/>
            <a:ext cx="0" cy="768096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sp>
        <p:nvSpPr>
          <p:cNvPr id="466" name="d true cell profile gene 1 #465"/>
          <p:cNvSpPr/>
          <p:nvPr/>
        </p:nvSpPr>
        <p:spPr>
          <a:xfrm>
            <a:off x="14237208" y="4259275"/>
            <a:ext cx="74633" cy="422453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67" name="d true cell profile gene 2 #466"/>
          <p:cNvSpPr/>
          <p:nvPr/>
        </p:nvSpPr>
        <p:spPr>
          <a:xfrm>
            <a:off x="14378026" y="3975080"/>
            <a:ext cx="74633" cy="706648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68" name="d true cell profile gene 3 #467"/>
          <p:cNvSpPr/>
          <p:nvPr/>
        </p:nvSpPr>
        <p:spPr>
          <a:xfrm>
            <a:off x="14518843" y="4397532"/>
            <a:ext cx="74633" cy="284196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69" name="d true cell profile gene 4 #468"/>
          <p:cNvSpPr/>
          <p:nvPr/>
        </p:nvSpPr>
        <p:spPr>
          <a:xfrm>
            <a:off x="14659661" y="4236232"/>
            <a:ext cx="74633" cy="445496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70" name="d true cell profile gene 5 #469"/>
          <p:cNvSpPr/>
          <p:nvPr/>
        </p:nvSpPr>
        <p:spPr>
          <a:xfrm>
            <a:off x="14800478" y="4458980"/>
            <a:ext cx="74633" cy="222748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cxnSp>
        <p:nvCxnSpPr>
          <p:cNvPr id="471" name="d predicted cell profile baseline #470"/>
          <p:cNvCxnSpPr/>
          <p:nvPr/>
        </p:nvCxnSpPr>
        <p:spPr>
          <a:xfrm>
            <a:off x="15160752" y="4681728"/>
            <a:ext cx="704088" cy="0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cxnSp>
        <p:nvCxnSpPr>
          <p:cNvPr id="472" name="d predicted cell profile axis #471"/>
          <p:cNvCxnSpPr/>
          <p:nvPr/>
        </p:nvCxnSpPr>
        <p:spPr>
          <a:xfrm>
            <a:off x="15160752" y="3913632"/>
            <a:ext cx="0" cy="768096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sp>
        <p:nvSpPr>
          <p:cNvPr id="473" name="d predicted cell profile gene 1 #472"/>
          <p:cNvSpPr/>
          <p:nvPr/>
        </p:nvSpPr>
        <p:spPr>
          <a:xfrm>
            <a:off x="15197328" y="4305361"/>
            <a:ext cx="74633" cy="376367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4" name="d predicted cell profile gene 2 #473"/>
          <p:cNvSpPr/>
          <p:nvPr/>
        </p:nvSpPr>
        <p:spPr>
          <a:xfrm>
            <a:off x="15338146" y="4028846"/>
            <a:ext cx="74633" cy="652882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5" name="d predicted cell profile gene 3 #474"/>
          <p:cNvSpPr/>
          <p:nvPr/>
        </p:nvSpPr>
        <p:spPr>
          <a:xfrm>
            <a:off x="15478963" y="4351447"/>
            <a:ext cx="74633" cy="330281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6" name="d predicted cell profile gene 4 #475"/>
          <p:cNvSpPr/>
          <p:nvPr/>
        </p:nvSpPr>
        <p:spPr>
          <a:xfrm>
            <a:off x="15619781" y="4182466"/>
            <a:ext cx="74633" cy="499262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7" name="d predicted cell profile gene 5 #476"/>
          <p:cNvSpPr/>
          <p:nvPr/>
        </p:nvSpPr>
        <p:spPr>
          <a:xfrm>
            <a:off x="15760598" y="4512747"/>
            <a:ext cx="74633" cy="168981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478" name="d ground truth allocation spot #477"/>
          <p:cNvSpPr/>
          <p:nvPr/>
        </p:nvSpPr>
        <p:spPr>
          <a:xfrm>
            <a:off x="11969496" y="7040880"/>
            <a:ext cx="704088" cy="70408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776B97"/>
            </a:solidFill>
            <a:prstDash val="solid"/>
          </a:ln>
        </p:spPr>
      </p:sp>
      <p:sp>
        <p:nvSpPr>
          <p:cNvPr id="479" name="d ground truth allocation cell 1 membrane #478"/>
          <p:cNvSpPr/>
          <p:nvPr/>
        </p:nvSpPr>
        <p:spPr>
          <a:xfrm>
            <a:off x="12106793" y="7186978"/>
            <a:ext cx="176022" cy="144338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80" name="d ground truth allocation cell 1 nucleus #479"/>
          <p:cNvSpPr/>
          <p:nvPr/>
        </p:nvSpPr>
        <p:spPr>
          <a:xfrm>
            <a:off x="12166641" y="7227463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81" name="d ground truth allocation cell 2 membrane #480"/>
          <p:cNvSpPr/>
          <p:nvPr/>
        </p:nvSpPr>
        <p:spPr>
          <a:xfrm>
            <a:off x="12360265" y="7201060"/>
            <a:ext cx="176022" cy="144338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82" name="d ground truth allocation cell 2 nucleus #481"/>
          <p:cNvSpPr/>
          <p:nvPr/>
        </p:nvSpPr>
        <p:spPr>
          <a:xfrm>
            <a:off x="12420112" y="7241545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83" name="d ground truth allocation cell 3 membrane #482"/>
          <p:cNvSpPr/>
          <p:nvPr/>
        </p:nvSpPr>
        <p:spPr>
          <a:xfrm>
            <a:off x="12113834" y="7447491"/>
            <a:ext cx="176022" cy="144338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84" name="d ground truth allocation cell 3 nucleus #483"/>
          <p:cNvSpPr/>
          <p:nvPr/>
        </p:nvSpPr>
        <p:spPr>
          <a:xfrm>
            <a:off x="12173682" y="7487976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85" name="d ground truth allocation cell 4 membrane #484"/>
          <p:cNvSpPr/>
          <p:nvPr/>
        </p:nvSpPr>
        <p:spPr>
          <a:xfrm>
            <a:off x="12353224" y="7447491"/>
            <a:ext cx="176022" cy="144338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86" name="d ground truth allocation cell 4 nucleus #485"/>
          <p:cNvSpPr/>
          <p:nvPr/>
        </p:nvSpPr>
        <p:spPr>
          <a:xfrm>
            <a:off x="12413071" y="7487976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87" name="d predicted allocation spot #486"/>
          <p:cNvSpPr/>
          <p:nvPr/>
        </p:nvSpPr>
        <p:spPr>
          <a:xfrm>
            <a:off x="12865608" y="7040880"/>
            <a:ext cx="704088" cy="70408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776B97"/>
            </a:solidFill>
            <a:prstDash val="solid"/>
          </a:ln>
        </p:spPr>
      </p:sp>
      <p:sp>
        <p:nvSpPr>
          <p:cNvPr id="488" name="d predicted allocation cell 1 membrane #487"/>
          <p:cNvSpPr/>
          <p:nvPr/>
        </p:nvSpPr>
        <p:spPr>
          <a:xfrm>
            <a:off x="13002905" y="7186978"/>
            <a:ext cx="176022" cy="144338"/>
          </a:xfrm>
          <a:prstGeom prst="ellipse">
            <a:avLst/>
          </a:prstGeom>
          <a:solidFill>
            <a:srgbClr val="4F587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89" name="d predicted allocation cell 1 nucleus #488"/>
          <p:cNvSpPr/>
          <p:nvPr/>
        </p:nvSpPr>
        <p:spPr>
          <a:xfrm>
            <a:off x="13062753" y="7227463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90" name="d predicted allocation cell 2 membrane #489"/>
          <p:cNvSpPr/>
          <p:nvPr/>
        </p:nvSpPr>
        <p:spPr>
          <a:xfrm>
            <a:off x="13256377" y="7201060"/>
            <a:ext cx="176022" cy="144338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91" name="d predicted allocation cell 2 nucleus #490"/>
          <p:cNvSpPr/>
          <p:nvPr/>
        </p:nvSpPr>
        <p:spPr>
          <a:xfrm>
            <a:off x="13316224" y="7241545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92" name="d predicted allocation cell 3 membrane #491"/>
          <p:cNvSpPr/>
          <p:nvPr/>
        </p:nvSpPr>
        <p:spPr>
          <a:xfrm>
            <a:off x="13009946" y="7447491"/>
            <a:ext cx="176022" cy="144338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93" name="d predicted allocation cell 3 nucleus #492"/>
          <p:cNvSpPr/>
          <p:nvPr/>
        </p:nvSpPr>
        <p:spPr>
          <a:xfrm>
            <a:off x="13069794" y="7487976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94" name="d predicted allocation cell 4 membrane #493"/>
          <p:cNvSpPr/>
          <p:nvPr/>
        </p:nvSpPr>
        <p:spPr>
          <a:xfrm>
            <a:off x="13249336" y="7447491"/>
            <a:ext cx="176022" cy="144338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95" name="d predicted allocation cell 4 nucleus #494"/>
          <p:cNvSpPr/>
          <p:nvPr/>
        </p:nvSpPr>
        <p:spPr>
          <a:xfrm>
            <a:off x="13309183" y="7487976"/>
            <a:ext cx="57207" cy="61608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96" name="d predicted cell for summation 0 membrane #495"/>
          <p:cNvSpPr/>
          <p:nvPr/>
        </p:nvSpPr>
        <p:spPr>
          <a:xfrm>
            <a:off x="14292072" y="7097207"/>
            <a:ext cx="219456" cy="179954"/>
          </a:xfrm>
          <a:prstGeom prst="ellipse">
            <a:avLst/>
          </a:prstGeom>
          <a:solidFill>
            <a:srgbClr val="DBC8ED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97" name="d predicted cell for summation 0 nucleus #496"/>
          <p:cNvSpPr/>
          <p:nvPr/>
        </p:nvSpPr>
        <p:spPr>
          <a:xfrm>
            <a:off x="14366687" y="7147682"/>
            <a:ext cx="71323" cy="7681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498" name="d predicted cell for summation 1 membrane #497"/>
          <p:cNvSpPr/>
          <p:nvPr/>
        </p:nvSpPr>
        <p:spPr>
          <a:xfrm>
            <a:off x="14639544" y="7097207"/>
            <a:ext cx="219456" cy="179954"/>
          </a:xfrm>
          <a:prstGeom prst="ellipse">
            <a:avLst/>
          </a:prstGeom>
          <a:solidFill>
            <a:srgbClr val="C68DC0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499" name="d predicted cell for summation 1 nucleus #498"/>
          <p:cNvSpPr/>
          <p:nvPr/>
        </p:nvSpPr>
        <p:spPr>
          <a:xfrm>
            <a:off x="14714159" y="7147682"/>
            <a:ext cx="71323" cy="7681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500" name="d predicted cell for summation 2 membrane #499"/>
          <p:cNvSpPr/>
          <p:nvPr/>
        </p:nvSpPr>
        <p:spPr>
          <a:xfrm>
            <a:off x="14987016" y="7097207"/>
            <a:ext cx="219456" cy="179954"/>
          </a:xfrm>
          <a:prstGeom prst="ellipse">
            <a:avLst/>
          </a:prstGeom>
          <a:solidFill>
            <a:srgbClr val="776B97"/>
          </a:solidFill>
          <a:ln w="7620">
            <a:solidFill>
              <a:srgbClr val="776B97"/>
            </a:solidFill>
            <a:prstDash val="solid"/>
          </a:ln>
        </p:spPr>
      </p:sp>
      <p:sp>
        <p:nvSpPr>
          <p:cNvPr id="501" name="d predicted cell for summation 2 nucleus #500"/>
          <p:cNvSpPr/>
          <p:nvPr/>
        </p:nvSpPr>
        <p:spPr>
          <a:xfrm>
            <a:off x="15061631" y="7147682"/>
            <a:ext cx="71323" cy="76810"/>
          </a:xfrm>
          <a:prstGeom prst="ellipse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cxnSp>
        <p:nvCxnSpPr>
          <p:cNvPr id="502" name="d sum arrow #501"/>
          <p:cNvCxnSpPr/>
          <p:nvPr/>
        </p:nvCxnSpPr>
        <p:spPr>
          <a:xfrm>
            <a:off x="14740128" y="7351776"/>
            <a:ext cx="0" cy="182880"/>
          </a:xfrm>
          <a:prstGeom prst="line">
            <a:avLst/>
          </a:prstGeom>
          <a:noFill/>
          <a:ln w="19050">
            <a:solidFill>
              <a:srgbClr val="776B97"/>
            </a:solidFill>
            <a:prstDash val="solid"/>
            <a:headEnd type="none"/>
            <a:tailEnd type="triangle"/>
          </a:ln>
        </p:spPr>
      </p:cxnSp>
      <p:cxnSp>
        <p:nvCxnSpPr>
          <p:cNvPr id="503" name="d aggregated predicted profile baseline #502"/>
          <p:cNvCxnSpPr/>
          <p:nvPr/>
        </p:nvCxnSpPr>
        <p:spPr>
          <a:xfrm>
            <a:off x="14200632" y="8001000"/>
            <a:ext cx="621792" cy="0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cxnSp>
        <p:nvCxnSpPr>
          <p:cNvPr id="504" name="d aggregated predicted profile axis #503"/>
          <p:cNvCxnSpPr/>
          <p:nvPr/>
        </p:nvCxnSpPr>
        <p:spPr>
          <a:xfrm>
            <a:off x="14200632" y="7644384"/>
            <a:ext cx="0" cy="356616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sp>
        <p:nvSpPr>
          <p:cNvPr id="505" name="d aggregated predicted profile gene 1 #504"/>
          <p:cNvSpPr/>
          <p:nvPr/>
        </p:nvSpPr>
        <p:spPr>
          <a:xfrm>
            <a:off x="14237208" y="7787030"/>
            <a:ext cx="82387" cy="213970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06" name="d aggregated predicted profile gene 2 #505"/>
          <p:cNvSpPr/>
          <p:nvPr/>
        </p:nvSpPr>
        <p:spPr>
          <a:xfrm>
            <a:off x="14392656" y="7672913"/>
            <a:ext cx="82387" cy="328087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07" name="d aggregated predicted profile gene 3 #506"/>
          <p:cNvSpPr/>
          <p:nvPr/>
        </p:nvSpPr>
        <p:spPr>
          <a:xfrm>
            <a:off x="14548104" y="7851221"/>
            <a:ext cx="82387" cy="149779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sp>
        <p:nvSpPr>
          <p:cNvPr id="508" name="d aggregated predicted profile gene 4 #507"/>
          <p:cNvSpPr/>
          <p:nvPr/>
        </p:nvSpPr>
        <p:spPr>
          <a:xfrm>
            <a:off x="14703552" y="7740670"/>
            <a:ext cx="82387" cy="260330"/>
          </a:xfrm>
          <a:prstGeom prst="rect">
            <a:avLst/>
          </a:prstGeom>
          <a:solidFill>
            <a:srgbClr val="776B97"/>
          </a:solidFill>
          <a:ln w="12700">
            <a:solidFill>
              <a:srgbClr val="776B97">
                <a:alpha val="0"/>
              </a:srgbClr>
            </a:solidFill>
            <a:prstDash val="solid"/>
          </a:ln>
        </p:spPr>
      </p:sp>
      <p:cxnSp>
        <p:nvCxnSpPr>
          <p:cNvPr id="509" name="d observed spot profile baseline #508"/>
          <p:cNvCxnSpPr/>
          <p:nvPr/>
        </p:nvCxnSpPr>
        <p:spPr>
          <a:xfrm>
            <a:off x="15297912" y="8001000"/>
            <a:ext cx="621792" cy="0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cxnSp>
        <p:nvCxnSpPr>
          <p:cNvPr id="510" name="d observed spot profile axis #509"/>
          <p:cNvCxnSpPr/>
          <p:nvPr/>
        </p:nvCxnSpPr>
        <p:spPr>
          <a:xfrm>
            <a:off x="15297912" y="7644384"/>
            <a:ext cx="0" cy="356616"/>
          </a:xfrm>
          <a:prstGeom prst="line">
            <a:avLst/>
          </a:prstGeom>
          <a:noFill/>
          <a:ln w="8890">
            <a:solidFill>
              <a:srgbClr val="5D5B65"/>
            </a:solidFill>
            <a:prstDash val="solid"/>
            <a:headEnd type="none"/>
            <a:tailEnd type="none"/>
          </a:ln>
        </p:spPr>
      </p:cxnSp>
      <p:sp>
        <p:nvSpPr>
          <p:cNvPr id="511" name="d observed spot profile gene 1 #510"/>
          <p:cNvSpPr/>
          <p:nvPr/>
        </p:nvSpPr>
        <p:spPr>
          <a:xfrm>
            <a:off x="15334488" y="7776332"/>
            <a:ext cx="82387" cy="224668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512" name="d observed spot profile gene 2 #511"/>
          <p:cNvSpPr/>
          <p:nvPr/>
        </p:nvSpPr>
        <p:spPr>
          <a:xfrm>
            <a:off x="15489936" y="7658649"/>
            <a:ext cx="82387" cy="342351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513" name="d observed spot profile gene 3 #512"/>
          <p:cNvSpPr/>
          <p:nvPr/>
        </p:nvSpPr>
        <p:spPr>
          <a:xfrm>
            <a:off x="15645384" y="7844089"/>
            <a:ext cx="82387" cy="156911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514" name="d observed spot profile gene 4 #513"/>
          <p:cNvSpPr/>
          <p:nvPr/>
        </p:nvSpPr>
        <p:spPr>
          <a:xfrm>
            <a:off x="15800832" y="7747803"/>
            <a:ext cx="82387" cy="253197"/>
          </a:xfrm>
          <a:prstGeom prst="rect">
            <a:avLst/>
          </a:prstGeom>
          <a:solidFill>
            <a:srgbClr val="4F587D"/>
          </a:solidFill>
          <a:ln w="12700">
            <a:solidFill>
              <a:srgbClr val="4F587D">
                <a:alpha val="0"/>
              </a:srgbClr>
            </a:solidFill>
            <a:prstDash val="solid"/>
          </a:ln>
        </p:spPr>
      </p:sp>
      <p:sp>
        <p:nvSpPr>
          <p:cNvPr id="515" name="d evaluation subsets footer #514"/>
          <p:cNvSpPr/>
          <p:nvPr/>
        </p:nvSpPr>
        <p:spPr>
          <a:xfrm>
            <a:off x="11795760" y="8668512"/>
            <a:ext cx="4297680" cy="539496"/>
          </a:xfrm>
          <a:prstGeom prst="rect">
            <a:avLst/>
          </a:prstGeom>
          <a:solidFill>
            <a:srgbClr val="DBC8ED">
              <a:alpha val="30000"/>
            </a:srgbClr>
          </a:solidFill>
          <a:ln w="12700">
            <a:solidFill>
              <a:srgbClr val="DBC8ED">
                <a:alpha val="0"/>
              </a:srgbClr>
            </a:solidFill>
            <a:prstDash val="solid"/>
          </a:ln>
        </p:spPr>
      </p:sp>
      <p:cxnSp>
        <p:nvCxnSpPr>
          <p:cNvPr id="516" name="flow Xenium to construction #515"/>
          <p:cNvCxnSpPr/>
          <p:nvPr/>
        </p:nvCxnSpPr>
        <p:spPr>
          <a:xfrm>
            <a:off x="3154680" y="2743200"/>
            <a:ext cx="585216" cy="0"/>
          </a:xfrm>
          <a:prstGeom prst="line">
            <a:avLst/>
          </a:prstGeom>
          <a:noFill/>
          <a:ln w="27940">
            <a:solidFill>
              <a:srgbClr val="4F587D"/>
            </a:solidFill>
            <a:prstDash val="solid"/>
            <a:headEnd type="none"/>
            <a:tailEnd type="triangle"/>
          </a:ln>
        </p:spPr>
      </p:cxnSp>
      <p:cxnSp>
        <p:nvCxnSpPr>
          <p:cNvPr id="517" name="flow model input #516"/>
          <p:cNvCxnSpPr/>
          <p:nvPr/>
        </p:nvCxnSpPr>
        <p:spPr>
          <a:xfrm>
            <a:off x="8083296" y="8366760"/>
            <a:ext cx="237744" cy="0"/>
          </a:xfrm>
          <a:prstGeom prst="line">
            <a:avLst/>
          </a:prstGeom>
          <a:noFill/>
          <a:ln w="27940">
            <a:solidFill>
              <a:srgbClr val="776B97"/>
            </a:solidFill>
            <a:prstDash val="solid"/>
            <a:headEnd type="none"/>
            <a:tailEnd type="none"/>
          </a:ln>
        </p:spPr>
      </p:cxnSp>
      <p:cxnSp>
        <p:nvCxnSpPr>
          <p:cNvPr id="518" name="flow model input #517"/>
          <p:cNvCxnSpPr/>
          <p:nvPr/>
        </p:nvCxnSpPr>
        <p:spPr>
          <a:xfrm flipV="1">
            <a:off x="8321040" y="1929384"/>
            <a:ext cx="0" cy="6437376"/>
          </a:xfrm>
          <a:prstGeom prst="line">
            <a:avLst/>
          </a:prstGeom>
          <a:noFill/>
          <a:ln w="27940">
            <a:solidFill>
              <a:srgbClr val="776B97"/>
            </a:solidFill>
            <a:prstDash val="solid"/>
            <a:headEnd type="none"/>
            <a:tailEnd type="none"/>
          </a:ln>
        </p:spPr>
      </p:cxnSp>
      <p:cxnSp>
        <p:nvCxnSpPr>
          <p:cNvPr id="519" name="flow model input #518"/>
          <p:cNvCxnSpPr/>
          <p:nvPr/>
        </p:nvCxnSpPr>
        <p:spPr>
          <a:xfrm>
            <a:off x="8321040" y="1929384"/>
            <a:ext cx="265176" cy="0"/>
          </a:xfrm>
          <a:prstGeom prst="line">
            <a:avLst/>
          </a:prstGeom>
          <a:noFill/>
          <a:ln w="27940">
            <a:solidFill>
              <a:srgbClr val="776B97"/>
            </a:solidFill>
            <a:prstDash val="solid"/>
            <a:headEnd type="none"/>
            <a:tailEnd type="triangle"/>
          </a:ln>
        </p:spPr>
      </p:cxnSp>
      <p:sp>
        <p:nvSpPr>
          <p:cNvPr id="527" name="a panel title #525"/>
          <p:cNvSpPr/>
          <p:nvPr/>
        </p:nvSpPr>
        <p:spPr>
          <a:xfrm>
            <a:off x="329184" y="365760"/>
            <a:ext cx="2907792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(a) 87 Xenium</a:t>
            </a:r>
            <a:endParaRPr lang="en-US" dirty="0" sz="2300" b="1">
              <a:solidFill>
                <a:srgbClr val="111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datasets</a:t>
            </a:r>
            <a:endParaRPr lang="en-US" altLang="en-US" dirty="0" sz="2300" b="1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28" name="b panel title #526"/>
          <p:cNvSpPr/>
          <p:nvPr/>
        </p:nvSpPr>
        <p:spPr>
          <a:xfrm>
            <a:off x="3712464" y="365760"/>
            <a:ext cx="4370832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(b) Pseudo-Visium</a:t>
            </a:r>
            <a:endParaRPr lang="en-US" dirty="0" sz="2300" b="1">
              <a:solidFill>
                <a:srgbClr val="111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construction</a:t>
            </a:r>
            <a:endParaRPr lang="en-US" altLang="en-US" dirty="0" sz="2300" b="1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29" name="c panel title #527"/>
          <p:cNvSpPr/>
          <p:nvPr/>
        </p:nvSpPr>
        <p:spPr>
          <a:xfrm>
            <a:off x="8558784" y="365760"/>
            <a:ext cx="2724912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(c) Seven super-</a:t>
            </a:r>
            <a:endParaRPr lang="en-US" dirty="0" sz="2300" b="1">
              <a:solidFill>
                <a:srgbClr val="1111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resolution methods</a:t>
            </a:r>
            <a:endParaRPr lang="en-US" altLang="en-US" dirty="0" sz="2300" b="1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0" name="d panel title #528"/>
          <p:cNvSpPr/>
          <p:nvPr/>
        </p:nvSpPr>
        <p:spPr>
          <a:xfrm>
            <a:off x="11759184" y="365760"/>
            <a:ext cx="4370832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84"/>
              </a:lnSpc>
              <a:buNone/>
            </a:pPr>
            <a:r>
              <a:rPr lang="en-US" altLang="en-US" dirty="0" sz="2300" b="1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(d) Multi-level evaluation</a:t>
            </a:r>
            <a:endParaRPr lang="en-US" altLang="en-US" dirty="0" sz="2300" b="1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1" name="a cohort diversity #529"/>
          <p:cNvSpPr/>
          <p:nvPr/>
        </p:nvSpPr>
        <p:spPr>
          <a:xfrm>
            <a:off x="365760" y="1362456"/>
            <a:ext cx="2834640" cy="6126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altLang="en-US" dirty="0" sz="20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Diverse tissues</a:t>
            </a:r>
            <a:endParaRPr lang="en-US" dirty="0" sz="20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160"/>
              </a:lnSpc>
              <a:buNone/>
            </a:pPr>
            <a:r>
              <a:rPr lang="en-US" altLang="en-US" dirty="0" sz="20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and cohorts</a:t>
            </a:r>
            <a:endParaRPr lang="en-US" altLang="en-US" dirty="0" sz="20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3" name="a H&amp;amp;E module #531"/>
          <p:cNvSpPr/>
          <p:nvPr/>
        </p:nvSpPr>
        <p:spPr>
          <a:xfrm>
            <a:off x="393192" y="3922776"/>
            <a:ext cx="2770632" cy="374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H&amp;E image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5" name="a coordinate module #533"/>
          <p:cNvSpPr/>
          <p:nvPr/>
        </p:nvSpPr>
        <p:spPr>
          <a:xfrm>
            <a:off x="393192" y="5513832"/>
            <a:ext cx="2770632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 coordinates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6" name="a expression module #534"/>
          <p:cNvSpPr/>
          <p:nvPr/>
        </p:nvSpPr>
        <p:spPr>
          <a:xfrm>
            <a:off x="393192" y="7013448"/>
            <a:ext cx="2770632" cy="7223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Measured cell-level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expression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7" name="a cells axis #535"/>
          <p:cNvSpPr/>
          <p:nvPr/>
        </p:nvSpPr>
        <p:spPr>
          <a:xfrm>
            <a:off x="393192" y="8010144"/>
            <a:ext cx="621792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Cells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8" name="a genes axis #536"/>
          <p:cNvSpPr/>
          <p:nvPr/>
        </p:nvSpPr>
        <p:spPr>
          <a:xfrm>
            <a:off x="1563624" y="8641080"/>
            <a:ext cx="960120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Genes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39" name="a ground truth meaning #537"/>
          <p:cNvSpPr/>
          <p:nvPr/>
        </p:nvSpPr>
        <p:spPr>
          <a:xfrm>
            <a:off x="365760" y="8924544"/>
            <a:ext cx="2816352" cy="6217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Measured cell-level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 truth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0" name="b local region label #538"/>
          <p:cNvSpPr/>
          <p:nvPr/>
        </p:nvSpPr>
        <p:spPr>
          <a:xfrm>
            <a:off x="3776472" y="1389888"/>
            <a:ext cx="4233672" cy="4389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Local Xenium tissue region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1" name="b multiple cells inset label #539"/>
          <p:cNvSpPr/>
          <p:nvPr/>
        </p:nvSpPr>
        <p:spPr>
          <a:xfrm>
            <a:off x="6556248" y="2011680"/>
            <a:ext cx="1527048" cy="685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One spot,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multiple cells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2" name="b exact aggregation equation Y #540"/>
          <p:cNvSpPr/>
          <p:nvPr/>
        </p:nvSpPr>
        <p:spPr>
          <a:xfrm>
            <a:off x="6643116" y="4608576"/>
            <a:ext cx="237744" cy="3931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altLang="en-US" dirty="0" sz="24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Y</a:t>
            </a:r>
            <a:endParaRPr lang="en-US" altLang="en-US" dirty="0" sz="24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3" name="b exact aggregation equation s #541"/>
          <p:cNvSpPr/>
          <p:nvPr/>
        </p:nvSpPr>
        <p:spPr>
          <a:xfrm>
            <a:off x="6862572" y="4818888"/>
            <a:ext cx="137160" cy="201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altLang="en-US" dirty="0" sz="16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</a:t>
            </a:r>
            <a:endParaRPr lang="en-US" altLang="en-US" dirty="0" sz="16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4" name="b exact aggregation equation equals #542"/>
          <p:cNvSpPr/>
          <p:nvPr/>
        </p:nvSpPr>
        <p:spPr>
          <a:xfrm>
            <a:off x="7008876" y="4626864"/>
            <a:ext cx="201168" cy="3566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415"/>
              </a:lnSpc>
              <a:buNone/>
            </a:pPr>
            <a:r>
              <a:rPr lang="en-US" altLang="en-US" dirty="0" sz="23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=</a:t>
            </a:r>
            <a:endParaRPr lang="en-US" altLang="en-US" dirty="0" sz="23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5" name="b exact aggregation equation sum #543"/>
          <p:cNvSpPr/>
          <p:nvPr/>
        </p:nvSpPr>
        <p:spPr>
          <a:xfrm>
            <a:off x="7246620" y="4562856"/>
            <a:ext cx="329184" cy="4480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255"/>
              </a:lnSpc>
              <a:buNone/>
            </a:pPr>
            <a:r>
              <a:rPr lang="en-US" altLang="en-US" dirty="0" sz="31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∑</a:t>
            </a:r>
            <a:endParaRPr lang="en-US" altLang="en-US" dirty="0" sz="31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6" name="b exact aggregation equation range #544"/>
          <p:cNvSpPr/>
          <p:nvPr/>
        </p:nvSpPr>
        <p:spPr>
          <a:xfrm>
            <a:off x="7191756" y="4965192"/>
            <a:ext cx="429768" cy="2194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altLang="en-US" dirty="0" sz="1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i∈s</a:t>
            </a:r>
            <a:endParaRPr lang="en-US" altLang="en-US" dirty="0" sz="1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7" name="b exact aggregation equation Xi base #545"/>
          <p:cNvSpPr/>
          <p:nvPr/>
        </p:nvSpPr>
        <p:spPr>
          <a:xfrm>
            <a:off x="7685532" y="4608576"/>
            <a:ext cx="237744" cy="3931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altLang="en-US" dirty="0" sz="24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X</a:t>
            </a:r>
            <a:endParaRPr lang="en-US" altLang="en-US" dirty="0" sz="24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8" name="b exact aggregation equation Xi index #546"/>
          <p:cNvSpPr/>
          <p:nvPr/>
        </p:nvSpPr>
        <p:spPr>
          <a:xfrm>
            <a:off x="7904988" y="4818888"/>
            <a:ext cx="109728" cy="201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altLang="en-US" dirty="0" sz="16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i</a:t>
            </a:r>
            <a:endParaRPr lang="en-US" altLang="en-US" dirty="0" sz="16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49" name="b measured cell legend text #547"/>
          <p:cNvSpPr/>
          <p:nvPr/>
        </p:nvSpPr>
        <p:spPr>
          <a:xfrm>
            <a:off x="4032504" y="5404104"/>
            <a:ext cx="2176272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Measured cells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0" name="b spot legend text #548"/>
          <p:cNvSpPr/>
          <p:nvPr/>
        </p:nvSpPr>
        <p:spPr>
          <a:xfrm>
            <a:off x="6510528" y="5413248"/>
            <a:ext cx="1472184" cy="5669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Visium-like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spots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1" name="b same measurements label #549"/>
          <p:cNvSpPr/>
          <p:nvPr/>
        </p:nvSpPr>
        <p:spPr>
          <a:xfrm>
            <a:off x="3813048" y="6117336"/>
            <a:ext cx="4197096" cy="4114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Same cell-level measurements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2" name="b retained expression label #550"/>
          <p:cNvSpPr/>
          <p:nvPr/>
        </p:nvSpPr>
        <p:spPr>
          <a:xfrm>
            <a:off x="3904488" y="7278624"/>
            <a:ext cx="1792224" cy="64922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Cell-level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 truth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3" name="b retained Xcell base #551"/>
          <p:cNvSpPr/>
          <p:nvPr/>
        </p:nvSpPr>
        <p:spPr>
          <a:xfrm>
            <a:off x="4402836" y="8001000"/>
            <a:ext cx="329184" cy="4389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045"/>
              </a:lnSpc>
              <a:buNone/>
            </a:pPr>
            <a:r>
              <a:rPr lang="en-US" altLang="en-US" dirty="0" sz="29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X</a:t>
            </a:r>
            <a:endParaRPr lang="en-US" altLang="en-US" dirty="0" sz="29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4" name="b retained Xcell subscript #552"/>
          <p:cNvSpPr/>
          <p:nvPr/>
        </p:nvSpPr>
        <p:spPr>
          <a:xfrm>
            <a:off x="4704588" y="8193024"/>
            <a:ext cx="493776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altLang="en-US" dirty="0" sz="1885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</a:t>
            </a:r>
            <a:endParaRPr lang="en-US" altLang="en-US" dirty="0" sz="1885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5" name="b evaluation-only label #553"/>
          <p:cNvSpPr/>
          <p:nvPr/>
        </p:nvSpPr>
        <p:spPr>
          <a:xfrm>
            <a:off x="3904488" y="8485632"/>
            <a:ext cx="1792224" cy="5212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dirty="0" sz="19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Evaluation</a:t>
            </a:r>
            <a:endParaRPr lang="en-US" dirty="0" sz="19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052"/>
              </a:lnSpc>
              <a:buNone/>
            </a:pPr>
            <a:r>
              <a:rPr lang="en-US" altLang="en-US" dirty="0" sz="19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 truth</a:t>
            </a:r>
            <a:endParaRPr lang="en-US" altLang="en-US" dirty="0" sz="19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6" name="b pseudo-Visium observation label #554"/>
          <p:cNvSpPr/>
          <p:nvPr/>
        </p:nvSpPr>
        <p:spPr>
          <a:xfrm>
            <a:off x="6153912" y="7278624"/>
            <a:ext cx="1792224" cy="64922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Pseudo-Visium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observation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7" name="b observed Ys base #555"/>
          <p:cNvSpPr/>
          <p:nvPr/>
        </p:nvSpPr>
        <p:spPr>
          <a:xfrm>
            <a:off x="6803136" y="8001000"/>
            <a:ext cx="329184" cy="4389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045"/>
              </a:lnSpc>
              <a:buNone/>
            </a:pPr>
            <a:r>
              <a:rPr lang="en-US" altLang="en-US" dirty="0" sz="29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Y</a:t>
            </a:r>
            <a:endParaRPr lang="en-US" altLang="en-US" dirty="0" sz="29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8" name="b observed Ys subscript #556"/>
          <p:cNvSpPr/>
          <p:nvPr/>
        </p:nvSpPr>
        <p:spPr>
          <a:xfrm>
            <a:off x="7104888" y="8193024"/>
            <a:ext cx="182880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altLang="en-US" dirty="0" sz="1885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</a:t>
            </a:r>
            <a:endParaRPr lang="en-US" altLang="en-US" dirty="0" sz="1885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59" name="b model input label #557"/>
          <p:cNvSpPr/>
          <p:nvPr/>
        </p:nvSpPr>
        <p:spPr>
          <a:xfrm>
            <a:off x="6153912" y="8558784"/>
            <a:ext cx="1792224" cy="34747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dirty="0" sz="19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Model input</a:t>
            </a:r>
            <a:endParaRPr lang="en-US" altLang="en-US" dirty="0" sz="19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0" name="c pseudo-Visium input #558"/>
          <p:cNvSpPr/>
          <p:nvPr/>
        </p:nvSpPr>
        <p:spPr>
          <a:xfrm>
            <a:off x="8723376" y="1655064"/>
            <a:ext cx="2395728" cy="374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Pseudo-Visium Y</a:t>
            </a:r>
            <a:r>
              <a:rPr lang="en-US" altLang="en-US" baseline="-40000" dirty="0" sz="1553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</a:t>
            </a:r>
            <a:endParaRPr lang="en-US" altLang="en-US" baseline="-40000" dirty="0" sz="1553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1" name="c histology input #559"/>
          <p:cNvSpPr/>
          <p:nvPr/>
        </p:nvSpPr>
        <p:spPr>
          <a:xfrm>
            <a:off x="8723376" y="2176272"/>
            <a:ext cx="1554480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+ H&amp;E</a:t>
            </a:r>
            <a:endParaRPr lang="en-US" altLang="en-US" dirty="0" sz="1800" b="0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2" name="c unified protocol label #560"/>
          <p:cNvSpPr/>
          <p:nvPr/>
        </p:nvSpPr>
        <p:spPr>
          <a:xfrm>
            <a:off x="8723376" y="3282696"/>
            <a:ext cx="2395728" cy="6766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Unified benchmark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protocol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3" name="c method name FineST #561"/>
          <p:cNvSpPr/>
          <p:nvPr/>
        </p:nvSpPr>
        <p:spPr>
          <a:xfrm>
            <a:off x="8860536" y="4119372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FineST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4" name="c method name STARS #562"/>
          <p:cNvSpPr/>
          <p:nvPr/>
        </p:nvSpPr>
        <p:spPr>
          <a:xfrm>
            <a:off x="8860536" y="4585716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STARS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5" name="c method name sCellST #563"/>
          <p:cNvSpPr/>
          <p:nvPr/>
        </p:nvSpPr>
        <p:spPr>
          <a:xfrm>
            <a:off x="8860536" y="5052060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sCellST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6" name="c method name HISTEX #564"/>
          <p:cNvSpPr/>
          <p:nvPr/>
        </p:nvSpPr>
        <p:spPr>
          <a:xfrm>
            <a:off x="8860536" y="5518404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HISTEX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7" name="c method name Hist2SR #565"/>
          <p:cNvSpPr/>
          <p:nvPr/>
        </p:nvSpPr>
        <p:spPr>
          <a:xfrm>
            <a:off x="8860536" y="5984748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Hist2SR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8" name="c method name DeepSpot2Cell #566"/>
          <p:cNvSpPr/>
          <p:nvPr/>
        </p:nvSpPr>
        <p:spPr>
          <a:xfrm>
            <a:off x="8860536" y="6451092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DeepSpot2Cell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69" name="c method name PanoSpace #567"/>
          <p:cNvSpPr/>
          <p:nvPr/>
        </p:nvSpPr>
        <p:spPr>
          <a:xfrm>
            <a:off x="8860536" y="6917436"/>
            <a:ext cx="2121408" cy="3383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PanoSpace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0" name="c prediction label #568"/>
          <p:cNvSpPr/>
          <p:nvPr/>
        </p:nvSpPr>
        <p:spPr>
          <a:xfrm>
            <a:off x="8741664" y="8220456"/>
            <a:ext cx="2359152" cy="6126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Predicted cell</a:t>
            </a:r>
            <a:endParaRPr lang="en-US" dirty="0" sz="21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expression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1" name="c predicted Xcell base #569"/>
          <p:cNvSpPr/>
          <p:nvPr/>
        </p:nvSpPr>
        <p:spPr>
          <a:xfrm>
            <a:off x="9523476" y="8823960"/>
            <a:ext cx="329184" cy="3566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835"/>
              </a:lnSpc>
              <a:buNone/>
            </a:pPr>
            <a:r>
              <a:rPr lang="en-US" altLang="en-US" dirty="0" sz="27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X̂</a:t>
            </a:r>
            <a:endParaRPr lang="en-US" altLang="en-US" dirty="0" sz="27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2" name="c predicted Xcell subscript #570"/>
          <p:cNvSpPr/>
          <p:nvPr/>
        </p:nvSpPr>
        <p:spPr>
          <a:xfrm>
            <a:off x="9825228" y="8979774"/>
            <a:ext cx="493776" cy="19495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35"/>
              </a:lnSpc>
              <a:buNone/>
            </a:pPr>
            <a:r>
              <a:rPr lang="en-US" altLang="en-US" dirty="0" sz="1555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</a:t>
            </a:r>
            <a:endParaRPr lang="en-US" altLang="en-US" dirty="0" sz="1555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3" name="d comparison banner #571"/>
          <p:cNvSpPr/>
          <p:nvPr/>
        </p:nvSpPr>
        <p:spPr>
          <a:xfrm>
            <a:off x="11804904" y="1389888"/>
            <a:ext cx="4279392" cy="40233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68"/>
              </a:lnSpc>
              <a:buNone/>
            </a:pPr>
            <a:r>
              <a:rPr lang="en-US" altLang="en-US" dirty="0" sz="21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Cell-level comparison</a:t>
            </a:r>
            <a:endParaRPr lang="en-US" altLang="en-US" dirty="0" sz="21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4" name="d comparison labels #572"/>
          <p:cNvSpPr/>
          <p:nvPr/>
        </p:nvSpPr>
        <p:spPr>
          <a:xfrm>
            <a:off x="11804904" y="1819656"/>
            <a:ext cx="4279392" cy="3200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 truth  ↔  Prediction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5" name="d gene fidelity title #573"/>
          <p:cNvSpPr/>
          <p:nvPr/>
        </p:nvSpPr>
        <p:spPr>
          <a:xfrm>
            <a:off x="11905488" y="2386584"/>
            <a:ext cx="1856232" cy="8321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Gene-level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spatial fidelity</a:t>
            </a:r>
            <a:endParaRPr lang="en-US" altLang="en-US" dirty="0" sz="20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6" name="d gene metric #574"/>
          <p:cNvSpPr/>
          <p:nvPr/>
        </p:nvSpPr>
        <p:spPr>
          <a:xfrm>
            <a:off x="11896344" y="3300984"/>
            <a:ext cx="1874520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Per-gene Pearson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correlation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7" name="d spatial ground truth label #575"/>
          <p:cNvSpPr/>
          <p:nvPr/>
        </p:nvSpPr>
        <p:spPr>
          <a:xfrm>
            <a:off x="11887200" y="4782312"/>
            <a:ext cx="868680" cy="4754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truth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8" name="d spatial prediction label #576"/>
          <p:cNvSpPr/>
          <p:nvPr/>
        </p:nvSpPr>
        <p:spPr>
          <a:xfrm>
            <a:off x="12783312" y="4818888"/>
            <a:ext cx="1014984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Prediction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79" name="d cell fidelity title #577"/>
          <p:cNvSpPr/>
          <p:nvPr/>
        </p:nvSpPr>
        <p:spPr>
          <a:xfrm>
            <a:off x="14127480" y="2386584"/>
            <a:ext cx="1856232" cy="8321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Cell-level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transcriptomic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fidelity</a:t>
            </a:r>
            <a:endParaRPr lang="en-US" altLang="en-US" dirty="0" sz="20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0" name="d cell metric #578"/>
          <p:cNvSpPr/>
          <p:nvPr/>
        </p:nvSpPr>
        <p:spPr>
          <a:xfrm>
            <a:off x="14118336" y="3300984"/>
            <a:ext cx="1874520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Per-cell Pearson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correlation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1" name="d true profile label #579"/>
          <p:cNvSpPr/>
          <p:nvPr/>
        </p:nvSpPr>
        <p:spPr>
          <a:xfrm>
            <a:off x="14109192" y="4782312"/>
            <a:ext cx="877824" cy="47548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truth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2" name="d prediction profile label #580"/>
          <p:cNvSpPr/>
          <p:nvPr/>
        </p:nvSpPr>
        <p:spPr>
          <a:xfrm>
            <a:off x="15023592" y="4818888"/>
            <a:ext cx="100584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Prediction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3" name="d allocation title #581"/>
          <p:cNvSpPr/>
          <p:nvPr/>
        </p:nvSpPr>
        <p:spPr>
          <a:xfrm>
            <a:off x="11905488" y="5586984"/>
            <a:ext cx="1856232" cy="8321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Within-spot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allocation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fidelity</a:t>
            </a:r>
            <a:endParaRPr lang="en-US" altLang="en-US" dirty="0" sz="20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4" name="d allocation metric #582"/>
          <p:cNvSpPr/>
          <p:nvPr/>
        </p:nvSpPr>
        <p:spPr>
          <a:xfrm>
            <a:off x="11896344" y="6437376"/>
            <a:ext cx="1874520" cy="5029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Pearson /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Spearman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5" name="d allocation ground truth label #583"/>
          <p:cNvSpPr/>
          <p:nvPr/>
        </p:nvSpPr>
        <p:spPr>
          <a:xfrm>
            <a:off x="11859768" y="7863840"/>
            <a:ext cx="91440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Ground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truth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6" name="d allocation prediction label #584"/>
          <p:cNvSpPr/>
          <p:nvPr/>
        </p:nvSpPr>
        <p:spPr>
          <a:xfrm>
            <a:off x="12819888" y="7863840"/>
            <a:ext cx="100584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Prediction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7" name="d aggregation title #585"/>
          <p:cNvSpPr/>
          <p:nvPr/>
        </p:nvSpPr>
        <p:spPr>
          <a:xfrm>
            <a:off x="14127480" y="5586984"/>
            <a:ext cx="1856232" cy="8321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Spot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aggregation</a:t>
            </a:r>
            <a:endParaRPr lang="en-US" dirty="0" sz="2000" b="1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2160"/>
              </a:lnSpc>
              <a:buNone/>
            </a:pPr>
            <a:r>
              <a:rPr lang="en-US" altLang="en-US" dirty="0" sz="2000" b="1">
                <a:solidFill>
                  <a:srgbClr val="222222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consistency</a:t>
            </a:r>
            <a:endParaRPr lang="en-US" altLang="en-US" dirty="0" sz="2000" b="1">
              <a:solidFill>
                <a:srgbClr val="222222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8" name="d aggregation comparison equation sum #586"/>
          <p:cNvSpPr/>
          <p:nvPr/>
        </p:nvSpPr>
        <p:spPr>
          <a:xfrm>
            <a:off x="14200632" y="6446520"/>
            <a:ext cx="320040" cy="374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altLang="en-US" dirty="0" sz="28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∑</a:t>
            </a:r>
            <a:endParaRPr lang="en-US" altLang="en-US" dirty="0" sz="28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89" name="d aggregation comparison equation range #587"/>
          <p:cNvSpPr/>
          <p:nvPr/>
        </p:nvSpPr>
        <p:spPr>
          <a:xfrm>
            <a:off x="14173200" y="6775704"/>
            <a:ext cx="411480" cy="21945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altLang="en-US" dirty="0" sz="1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i∈s</a:t>
            </a:r>
            <a:endParaRPr lang="en-US" altLang="en-US" dirty="0" sz="1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0" name="d aggregation comparison equation predicted X #588"/>
          <p:cNvSpPr/>
          <p:nvPr/>
        </p:nvSpPr>
        <p:spPr>
          <a:xfrm>
            <a:off x="14526133" y="6464808"/>
            <a:ext cx="274320" cy="374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25"/>
              </a:lnSpc>
              <a:buNone/>
            </a:pPr>
            <a:r>
              <a:rPr lang="en-US" altLang="en-US" dirty="0" sz="2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X̂</a:t>
            </a:r>
            <a:endParaRPr lang="en-US" altLang="en-US" dirty="0" sz="2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1" name="d aggregation comparison equation i #589"/>
          <p:cNvSpPr/>
          <p:nvPr/>
        </p:nvSpPr>
        <p:spPr>
          <a:xfrm>
            <a:off x="14950440" y="6684264"/>
            <a:ext cx="109728" cy="201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altLang="en-US" dirty="0" sz="16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i</a:t>
            </a:r>
            <a:endParaRPr lang="en-US" altLang="en-US" dirty="0" sz="16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2" name="d aggregation comparison equation comparison #590"/>
          <p:cNvSpPr/>
          <p:nvPr/>
        </p:nvSpPr>
        <p:spPr>
          <a:xfrm>
            <a:off x="15087600" y="6483096"/>
            <a:ext cx="356616" cy="35661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altLang="en-US" dirty="0" sz="24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↔</a:t>
            </a:r>
            <a:endParaRPr lang="en-US" altLang="en-US" dirty="0" sz="24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3" name="d aggregation comparison equation observed Y #591"/>
          <p:cNvSpPr/>
          <p:nvPr/>
        </p:nvSpPr>
        <p:spPr>
          <a:xfrm>
            <a:off x="15535656" y="6464808"/>
            <a:ext cx="256032" cy="3749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25"/>
              </a:lnSpc>
              <a:buNone/>
            </a:pPr>
            <a:r>
              <a:rPr lang="en-US" altLang="en-US" dirty="0" sz="2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Y</a:t>
            </a:r>
            <a:endParaRPr lang="en-US" altLang="en-US" dirty="0" sz="2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4" name="d aggregation comparison equation s #592"/>
          <p:cNvSpPr/>
          <p:nvPr/>
        </p:nvSpPr>
        <p:spPr>
          <a:xfrm>
            <a:off x="15773400" y="6684264"/>
            <a:ext cx="137160" cy="201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altLang="en-US" dirty="0" sz="16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</a:t>
            </a:r>
            <a:endParaRPr lang="en-US" altLang="en-US" dirty="0" sz="16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5" name="d sum label #593"/>
          <p:cNvSpPr/>
          <p:nvPr/>
        </p:nvSpPr>
        <p:spPr>
          <a:xfrm>
            <a:off x="14877288" y="7342632"/>
            <a:ext cx="6400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sum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6" name="d observed comparison mark #594"/>
          <p:cNvSpPr/>
          <p:nvPr/>
        </p:nvSpPr>
        <p:spPr>
          <a:xfrm>
            <a:off x="14831568" y="7662672"/>
            <a:ext cx="393192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415"/>
              </a:lnSpc>
              <a:buNone/>
            </a:pPr>
            <a:r>
              <a:rPr lang="en-US" altLang="en-US" dirty="0" sz="23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↔</a:t>
            </a:r>
            <a:endParaRPr lang="en-US" altLang="en-US" dirty="0" sz="23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7" name="d summed profile label #595"/>
          <p:cNvSpPr/>
          <p:nvPr/>
        </p:nvSpPr>
        <p:spPr>
          <a:xfrm>
            <a:off x="14081760" y="8046720"/>
            <a:ext cx="960120" cy="4937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75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 sum</a:t>
            </a:r>
            <a:endParaRPr lang="en-US" altLang="en-US" dirty="0" sz="175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8" name="d observed profile label #596"/>
          <p:cNvSpPr/>
          <p:nvPr/>
        </p:nvSpPr>
        <p:spPr>
          <a:xfrm>
            <a:off x="15179040" y="8046720"/>
            <a:ext cx="841248" cy="49377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75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Observed</a:t>
            </a:r>
            <a:endParaRPr lang="en-US" dirty="0" sz="175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75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Yₛ</a:t>
            </a:r>
            <a:endParaRPr lang="en-US" altLang="en-US" dirty="0" sz="175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599" name="d subset heading #597"/>
          <p:cNvSpPr/>
          <p:nvPr/>
        </p:nvSpPr>
        <p:spPr>
          <a:xfrm>
            <a:off x="11896344" y="8668512"/>
            <a:ext cx="4096512" cy="25603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052"/>
              </a:lnSpc>
              <a:buNone/>
            </a:pPr>
            <a:r>
              <a:rPr lang="en-US" altLang="en-US" dirty="0" sz="1900" b="1">
                <a:solidFill>
                  <a:srgbClr val="333333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Evaluation subsets</a:t>
            </a:r>
            <a:endParaRPr lang="en-US" altLang="en-US" dirty="0" sz="1900" b="1">
              <a:solidFill>
                <a:srgbClr val="333333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0" name="d gene subsets #598"/>
          <p:cNvSpPr/>
          <p:nvPr/>
        </p:nvSpPr>
        <p:spPr>
          <a:xfrm>
            <a:off x="11905488" y="8951976"/>
            <a:ext cx="1828800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75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HVG / SVG / HEG</a:t>
            </a:r>
            <a:endParaRPr lang="en-US" altLang="en-US" dirty="0" sz="175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1" name="d gene counts #599"/>
          <p:cNvSpPr/>
          <p:nvPr/>
        </p:nvSpPr>
        <p:spPr>
          <a:xfrm>
            <a:off x="13834872" y="8951976"/>
            <a:ext cx="2148840" cy="23774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75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20 / 50 / 100 genes</a:t>
            </a:r>
            <a:endParaRPr lang="en-US" altLang="en-US" dirty="0" sz="175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4" name="a measured expression dimension X #602"/>
          <p:cNvSpPr/>
          <p:nvPr/>
        </p:nvSpPr>
        <p:spPr>
          <a:xfrm>
            <a:off x="562356" y="9555480"/>
            <a:ext cx="274320" cy="39319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25"/>
              </a:lnSpc>
              <a:buNone/>
            </a:pPr>
            <a:r>
              <a:rPr lang="en-US" altLang="en-US" dirty="0" sz="2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X</a:t>
            </a:r>
            <a:endParaRPr lang="en-US" altLang="en-US" dirty="0" sz="2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5" name="a measured expression dimension cell #603"/>
          <p:cNvSpPr/>
          <p:nvPr/>
        </p:nvSpPr>
        <p:spPr>
          <a:xfrm>
            <a:off x="818388" y="9765792"/>
            <a:ext cx="438912" cy="228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altLang="en-US" dirty="0" sz="17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</a:t>
            </a:r>
            <a:endParaRPr lang="en-US" altLang="en-US" dirty="0" sz="17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6" name="a measured expression dimension belongs #604"/>
          <p:cNvSpPr/>
          <p:nvPr/>
        </p:nvSpPr>
        <p:spPr>
          <a:xfrm>
            <a:off x="1303020" y="9564624"/>
            <a:ext cx="338328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25"/>
              </a:lnSpc>
              <a:buNone/>
            </a:pPr>
            <a:r>
              <a:rPr lang="en-US" altLang="en-US" dirty="0" sz="2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∈</a:t>
            </a:r>
            <a:endParaRPr lang="en-US" altLang="en-US" dirty="0" sz="2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7" name="a measured expression dimension real #605"/>
          <p:cNvSpPr/>
          <p:nvPr/>
        </p:nvSpPr>
        <p:spPr>
          <a:xfrm>
            <a:off x="1659636" y="9546336"/>
            <a:ext cx="356616" cy="40233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25"/>
              </a:lnSpc>
              <a:buNone/>
            </a:pPr>
            <a:r>
              <a:rPr lang="en-US" altLang="en-US" dirty="0" sz="25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ℝ</a:t>
            </a:r>
            <a:endParaRPr lang="en-US" altLang="en-US" dirty="0" sz="25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8" name="a measured expression dimension dimension #606"/>
          <p:cNvSpPr/>
          <p:nvPr/>
        </p:nvSpPr>
        <p:spPr>
          <a:xfrm>
            <a:off x="2025396" y="9436608"/>
            <a:ext cx="182880" cy="25603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altLang="en-US" dirty="0" sz="18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N</a:t>
            </a:r>
            <a:endParaRPr lang="en-US" altLang="en-US" dirty="0" sz="18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09" name="a measured expression dimension dimension cell #607"/>
          <p:cNvSpPr/>
          <p:nvPr/>
        </p:nvSpPr>
        <p:spPr>
          <a:xfrm>
            <a:off x="2208276" y="9582912"/>
            <a:ext cx="283464" cy="2103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altLang="en-US" dirty="0" sz="13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</a:t>
            </a:r>
            <a:endParaRPr lang="en-US" altLang="en-US" dirty="0" sz="13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10" name="a measured expression dimension dimension genes #608"/>
          <p:cNvSpPr/>
          <p:nvPr/>
        </p:nvSpPr>
        <p:spPr>
          <a:xfrm>
            <a:off x="2537460" y="9436608"/>
            <a:ext cx="548640" cy="25603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altLang="en-US" dirty="0" sz="1800" b="0">
                <a:solidFill>
                  <a:srgbClr val="11111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× G</a:t>
            </a:r>
            <a:endParaRPr lang="en-US" altLang="en-US" dirty="0" sz="1800" b="0">
              <a:solidFill>
                <a:srgbClr val="11111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11" name="d reconstruction caveat #609"/>
          <p:cNvSpPr/>
          <p:nvPr/>
        </p:nvSpPr>
        <p:spPr>
          <a:xfrm>
            <a:off x="11887200" y="9345168"/>
            <a:ext cx="411480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Spot consistency ≠</a:t>
            </a:r>
            <a:endParaRPr lang="en-US" dirty="0" sz="1800" b="0">
              <a:solidFill>
                <a:srgbClr val="4444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ts val="1944"/>
              </a:lnSpc>
              <a:buNone/>
            </a:pPr>
            <a:r>
              <a:rPr lang="en-US" altLang="en-US" dirty="0" sz="1800" b="0">
                <a:solidFill>
                  <a:srgbClr val="44444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0"/>
              </a:rPr>
              <a:t>cell-level recovery</a:t>
            </a:r>
            <a:endParaRPr lang="en-US" altLang="en-US" dirty="0" sz="1800" b="0">
              <a:solidFill>
                <a:srgbClr val="444444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612" name="c real H&amp;E input: Breast_Cancer_NCBI784_he.png" descr="c real H&amp;E input: Breast_Cancer_NCBI784_he.png"/>
          <p:cNvPicPr>
            <a:picLocks noChangeAspect="1"/>
          </p:cNvPicPr>
          <p:nvPr/>
        </p:nvPicPr>
        <p:blipFill>
          <a:blip r:embed="rId4"/>
          <a:srcRect l="3906" t="0" r="3906" b="0"/>
          <a:stretch>
            <a:fillRect/>
          </a:stretch>
        </p:blipFill>
        <p:spPr>
          <a:xfrm>
            <a:off x="10442448" y="2066544"/>
            <a:ext cx="640080" cy="448056"/>
          </a:xfrm>
          <a:prstGeom prst="rect">
            <a:avLst/>
          </a:prstGeom>
          <a:ln w="12700">
            <a:solidFill>
              <a:srgbClr val="776B97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587D"/>
      </a:accent1>
      <a:accent2>
        <a:srgbClr val="776B97"/>
      </a:accent2>
      <a:accent3>
        <a:srgbClr val="C68DC0"/>
      </a:accent3>
      <a:accent4>
        <a:srgbClr val="DBC8ED"/>
      </a:accent4>
      <a:accent5>
        <a:srgbClr val="4F587D"/>
      </a:accent5>
      <a:accent6>
        <a:srgbClr val="DBC8E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587D"/>
      </a:accent1>
      <a:accent2>
        <a:srgbClr val="776B97"/>
      </a:accent2>
      <a:accent3>
        <a:srgbClr val="C68DC0"/>
      </a:accent3>
      <a:accent4>
        <a:srgbClr val="DBC8ED"/>
      </a:accent4>
      <a:accent5>
        <a:srgbClr val="4F587D"/>
      </a:accent5>
      <a:accent6>
        <a:srgbClr val="DBC8ED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WPS 演示</Application>
  <PresentationFormat>On-screen Show (16:9)</PresentationFormat>
  <Paragraphs>197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Arial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Vis2Cell-Bench Figure 1</dc:title>
  <dc:creator>Vis2Cell-Bench</dc:creator>
  <dc:subject>Editable scientific schematic; illustrative graphics, not benchmark results</dc:subject>
  <cp:lastModifiedBy>qzuser</cp:lastModifiedBy>
  <cp:revision>3</cp:revision>
  <dcterms:created xsi:type="dcterms:W3CDTF">2026-09-21T06:21:00Z</dcterms:created>
  <dcterms:modified xsi:type="dcterms:W3CDTF">2026-09-21T06:36:20Z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84689D4A7CDD458B9189D0BC6D5950FE_12</vt:lpwstr>
  </property>
</Properties>
</file>